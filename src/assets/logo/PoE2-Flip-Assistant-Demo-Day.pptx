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 seconds. Hello, my name is David. I play Path of Exile 2. In this game the economy is made by players, and prices move every day. When I have currency, I must decide: flip, farm, craft, or hold. To answer that, I open five tabs. In my own workflow that often takes one or two minutes. And I am still not sure. So I built PoE2 Flip Assistant. It gives me evidence I can look at, and then I decide.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55 seconds. Here is the problem. The information a player needs is not in one place. Market prices are in one service. Listings are somewhere else. Price history is a third place. Crafting mechanics change with patches, so old guides get wrong. And a lot of real knowledge only lives in community posts. A new player does not know where to look. An experienced player knows where to look, but loses time verifying across tools. Both end at the same place: one decision, made from pieces, and not much confidence in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seconds. The product follows one workflow. Observe the market. Compare the options. Ask the Coach. Verify the evidence. Then decide. Four parts do the work. Market gives conversion and current observations. Farming ranks what is hot right now. Crafting gives curated recipes with a modeled expected value. And the Coach answers questions with sources attached. One important point: this is decision support. The app does not trade, it does not click in the game, and it does not whisper sellers. The player always executes.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opens the live demo, about 3 minutes across both demo slides. Start with the scenario on the slide: I have twenty Divine Orbs, what is the best evidence-backed use of my currency right now? Everything I show now answers that one question. Step one, Currency Exchange. I pick an item, I see buy near, sell near, the margin, and the price history for two weeks. Note the label: this is a heuristic, not an offer I can execute. Step two, FarmAdvisor. It shows which categories are hot now, by momentum and liquidity. It is market heat, not Divine per hour.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two of the live demo, same twenty Divine Orbs. Step three, a curated craft. Seven steps, materials with costs, a hit rate, and a modeled expected value per attempt — here it is negative, so the honest answer is do not craft this. Step four, the Coach. I ask a question, it uses market, knowledge and game-data tools, and cited claims link back to visible source cards, and the response shows which tools were used. At the end it always tells me to verify prices in game. So the flip, the farm and the craft are now on the same table, with the evidence next to them. Then return to the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seconds. Quickly, how it works. The player uses an authenticated Next.js app over HTTPS. Behind it are the market and craft services, and a FastAPI Coach built as a LangGraph workflow: a guard first, then the agent, and the agent calls tools. Reasoning uses an OpenAI model. Under all of that sits the grounding layer, and it feeds the services and the Coach on every request: market history in SQLite, a curated knowledge base stamped with the patch, a versioned RePoE game-data snapshot for deterministic lookups, and external observations. And the last stage is the part I care about most. Every answer comes back with evidence cards, freshness, and a disclaimer to verify in game. The value is not the stack. The value is that the player can inspect where the answer came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75 seconds. Now the evidence. I ran three evaluation groups on the standalone certification prototype. Retrieval: eighteen cases. Dense and hybrid both hit at four, ninety-four point four percent. Hybrid ranked a little better, MRR zero point seven-two instead of zero point seven-two before rounding, but it did not find more documents, and it was a little slower. So I kept it honest and did not call hybrid a win. Agent behaviour: eight cases. Exact tool selection, one hundred percent across eight cases. Disclaimer compliance, one hundred percent across eight cases. Grounded citations where they were required, seven of seven. Guardrails: nineteen cases. Before guardrails, attacks got through every time. After, all of them were blocked, and benign questions still passed. Two limits, and I want to be clear. These sets are small and curated. And citation compliance means the source ID was valid — it does not prove every sentence is true. These numbers also do not measure the production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seconds. I want to be direct about the boundaries, because in a game economy it is easy to promise too much. What the product does: it supports a decision, it shows observed data, it models expected value, and it links answers to sources. What it does not do: it does not automate anything, it does not guarantee that a listing becomes a sale, it does not promise profit, and citations do not make an answer true. The deterministic game-data layer is also not a full crafting planner yet. The player verifies the price and the player performs the action.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seconds. Where it stands today: the product is integrated and live on HTTPS at poe2.coach, with deterministic game-data inspection and an evidence-backed Coach. Next, five things. A deterministic craft planner. An eval suite for the production app, not only the prototype. More item-level crafting cases. Feedback from real players, and iteration on it. And keeping the data patch-aware, because Path of Exile 2 keeps changing. The goal is simple: turn fragmented game knowledge into a decision you can inspect. The product is on the left QR code, the certification and evaluation artifact on the right.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2" Type="http://schemas.openxmlformats.org/officeDocument/2006/relationships/hyperlink" Target="https://poe2.coach/" TargetMode="External"/><Relationship Id="rId4" Type="http://schemas.openxmlformats.org/officeDocument/2006/relationships/hyperlink" Target="https://poe2.coach/" TargetMode="External"/><Relationship Id="rId6" Type="http://schemas.openxmlformats.org/officeDocument/2006/relationships/hyperlink" Target="https://github.com/RysanekDavid/poe2-flip-coach-certification" TargetMode="External"/><Relationship Id="rId1" Type="http://schemas.openxmlformats.org/officeDocument/2006/relationships/image" Target="../media/image-9-1.png"/><Relationship Id="rId3" Type="http://schemas.openxmlformats.org/officeDocument/2006/relationships/image" Target="../media/image-9-2.png"/><Relationship Id="rId5" Type="http://schemas.openxmlformats.org/officeDocument/2006/relationships/image" Target="../media/image-9-3.png"/><Relationship Id="rId7" Type="http://schemas.openxmlformats.org/officeDocument/2006/relationships/slideLayout" Target="../slideLayouts/slideLayout1.xml"/><Relationship Id="rId8"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8288001" cy="10287000"/>
          </a:xfrm>
          <a:prstGeom prst="rect">
            <a:avLst/>
          </a:prstGeom>
          <a:gradFill rotWithShape="1">
            <a:gsLst>
              <a:gs pos="0">
                <a:srgbClr val="1B1A17">
                  <a:alpha val="100000"/>
                </a:srgbClr>
              </a:gs>
              <a:gs pos="55000">
                <a:srgbClr val="0E0F12">
                  <a:alpha val="100000"/>
                </a:srgbClr>
              </a:gs>
            </a:gsLst>
            <a:path path="circle">
              <a:fillToRect l="12000" t="0" r="88000" b="100000"/>
            </a:path>
          </a:gradFill>
          <a:ln/>
        </p:spPr>
      </p:sp>
      <p:pic>
        <p:nvPicPr>
          <p:cNvPr id="3" name="Image 0" descr="preencoded.png">    </p:cNvPr>
          <p:cNvPicPr>
            <a:picLocks noChangeAspect="1"/>
          </p:cNvPicPr>
          <p:nvPr/>
        </p:nvPicPr>
        <p:blipFill>
          <a:blip r:embed="rId1"/>
          <a:stretch>
            <a:fillRect/>
          </a:stretch>
        </p:blipFill>
        <p:spPr>
          <a:xfrm>
            <a:off x="952500" y="838068"/>
            <a:ext cx="461533" cy="609534"/>
          </a:xfrm>
          <a:prstGeom prst="rect">
            <a:avLst/>
          </a:prstGeom>
        </p:spPr>
      </p:pic>
      <p:sp>
        <p:nvSpPr>
          <p:cNvPr id="4" name="Text 1"/>
          <p:cNvSpPr/>
          <p:nvPr/>
        </p:nvSpPr>
        <p:spPr>
          <a:xfrm>
            <a:off x="1623550" y="968210"/>
            <a:ext cx="3806098" cy="387350"/>
          </a:xfrm>
          <a:prstGeom prst="rect">
            <a:avLst/>
          </a:prstGeom>
          <a:noFill/>
          <a:ln/>
        </p:spPr>
        <p:txBody>
          <a:bodyPr wrap="square" lIns="25400" tIns="25400" rIns="25400" bIns="25400" rtlCol="0" anchor="t">
            <a:normAutofit/>
          </a:bodyPr>
          <a:lstStyle/>
          <a:p>
            <a:pPr algn="l" indent="0" marL="0">
              <a:buNone/>
            </a:pPr>
            <a:r>
              <a:rPr lang="en-US" sz="1800" spc="396" kern="0" dirty="0">
                <a:solidFill>
                  <a:srgbClr val="E8B44A"/>
                </a:solidFill>
                <a:latin typeface="Spectral" pitchFamily="34" charset="0"/>
                <a:ea typeface="Spectral" pitchFamily="34" charset="-122"/>
                <a:cs typeface="Spectral" pitchFamily="34" charset="-120"/>
              </a:rPr>
              <a:t>POE2 FLIP ASSISTANT</a:t>
            </a:r>
            <a:endParaRPr lang="en-US" sz="1800" dirty="0"/>
          </a:p>
        </p:txBody>
      </p:sp>
      <p:sp>
        <p:nvSpPr>
          <p:cNvPr id="5" name="Text 2"/>
          <p:cNvSpPr/>
          <p:nvPr/>
        </p:nvSpPr>
        <p:spPr>
          <a:xfrm>
            <a:off x="952500" y="3438591"/>
            <a:ext cx="14716126" cy="1930532"/>
          </a:xfrm>
          <a:prstGeom prst="rect">
            <a:avLst/>
          </a:prstGeom>
          <a:noFill/>
          <a:ln/>
        </p:spPr>
        <p:txBody>
          <a:bodyPr wrap="square" lIns="25400" tIns="25400" rIns="25400" bIns="25400" rtlCol="0" anchor="t">
            <a:normAutofit/>
          </a:bodyPr>
          <a:lstStyle/>
          <a:p>
            <a:pPr algn="l" indent="0" marL="0">
              <a:lnSpc>
                <a:spcPct val="70971"/>
              </a:lnSpc>
              <a:buNone/>
            </a:pPr>
            <a:r>
              <a:rPr lang="en-US" sz="6900" b="1" spc="-69" kern="0" dirty="0">
                <a:solidFill>
                  <a:srgbClr val="F4F1EA"/>
                </a:solidFill>
                <a:latin typeface="Spectral" pitchFamily="34" charset="0"/>
                <a:ea typeface="Spectral" pitchFamily="34" charset="-122"/>
                <a:cs typeface="Spectral" pitchFamily="34" charset="-120"/>
              </a:rPr>
              <a:t>One decision. Five tabs. Still uncertain.</a:t>
            </a:r>
            <a:endParaRPr lang="en-US" sz="6900" dirty="0"/>
          </a:p>
        </p:txBody>
      </p:sp>
      <p:sp>
        <p:nvSpPr>
          <p:cNvPr id="6" name="Text 3"/>
          <p:cNvSpPr/>
          <p:nvPr/>
        </p:nvSpPr>
        <p:spPr>
          <a:xfrm>
            <a:off x="952500" y="5788091"/>
            <a:ext cx="12263438" cy="1066668"/>
          </a:xfrm>
          <a:prstGeom prst="rect">
            <a:avLst/>
          </a:prstGeom>
          <a:noFill/>
          <a:ln/>
        </p:spPr>
        <p:txBody>
          <a:bodyPr wrap="square" lIns="25400" tIns="25400" rIns="25400" bIns="25400" rtlCol="0" anchor="t">
            <a:normAutofit/>
          </a:bodyPr>
          <a:lstStyle/>
          <a:p>
            <a:pPr algn="l" indent="0" marL="0">
              <a:lnSpc>
                <a:spcPct val="103404"/>
              </a:lnSpc>
              <a:buNone/>
            </a:pPr>
            <a:r>
              <a:rPr lang="en-US" sz="3000" dirty="0">
                <a:solidFill>
                  <a:srgbClr val="9B988F"/>
                </a:solidFill>
                <a:latin typeface="IBM Plex Sans" pitchFamily="34" charset="0"/>
                <a:ea typeface="IBM Plex Sans" pitchFamily="34" charset="-122"/>
                <a:cs typeface="IBM Plex Sans" pitchFamily="34" charset="-120"/>
              </a:rPr>
              <a:t>Evidence-backed decisions for Path of Exile 2’s player-driven economy.</a:t>
            </a:r>
            <a:endParaRPr lang="en-US" sz="3000" dirty="0"/>
          </a:p>
        </p:txBody>
      </p:sp>
      <p:sp>
        <p:nvSpPr>
          <p:cNvPr id="7" name="Shape 4"/>
          <p:cNvSpPr/>
          <p:nvPr/>
        </p:nvSpPr>
        <p:spPr>
          <a:xfrm>
            <a:off x="952500" y="8807483"/>
            <a:ext cx="16383001" cy="10583"/>
          </a:xfrm>
          <a:prstGeom prst="rect">
            <a:avLst/>
          </a:prstGeom>
          <a:solidFill>
            <a:srgbClr val="2A2E35"/>
          </a:solidFill>
          <a:ln/>
        </p:spPr>
      </p:sp>
      <p:sp>
        <p:nvSpPr>
          <p:cNvPr id="8" name="Text 5"/>
          <p:cNvSpPr/>
          <p:nvPr/>
        </p:nvSpPr>
        <p:spPr>
          <a:xfrm>
            <a:off x="952500" y="9122834"/>
            <a:ext cx="7360990" cy="440267"/>
          </a:xfrm>
          <a:prstGeom prst="rect">
            <a:avLst/>
          </a:prstGeom>
          <a:noFill/>
          <a:ln/>
        </p:spPr>
        <p:txBody>
          <a:bodyPr wrap="square" lIns="25400" tIns="25400" rIns="25400" bIns="25400" rtlCol="0" anchor="t">
            <a:normAutofit/>
          </a:bodyPr>
          <a:lstStyle/>
          <a:p>
            <a:pPr algn="l" indent="0" marL="0">
              <a:buNone/>
            </a:pPr>
            <a:r>
              <a:rPr lang="en-US" sz="2400" dirty="0">
                <a:solidFill>
                  <a:srgbClr val="F4F1EA"/>
                </a:solidFill>
                <a:latin typeface="IBM Plex Sans" pitchFamily="34" charset="0"/>
                <a:ea typeface="IBM Plex Sans" pitchFamily="34" charset="-122"/>
                <a:cs typeface="IBM Plex Sans" pitchFamily="34" charset="-120"/>
              </a:rPr>
              <a:t>David Ryšánek</a:t>
            </a:r>
            <a:pPr algn="l" indent="0" marL="0">
              <a:buNone/>
            </a:pPr>
            <a:r>
              <a:rPr lang="en-US" sz="2400" dirty="0">
                <a:solidFill>
                  <a:srgbClr val="9B988F"/>
                </a:solidFill>
                <a:latin typeface="IBM Plex Sans" pitchFamily="34" charset="0"/>
                <a:ea typeface="IBM Plex Sans" pitchFamily="34" charset="-122"/>
                <a:cs typeface="IBM Plex Sans" pitchFamily="34" charset="-120"/>
              </a:rPr>
              <a:t>· AI Makerspace AIEC1 Demo Day</a:t>
            </a:r>
            <a:endParaRPr lang="en-US" sz="2400" dirty="0"/>
          </a:p>
        </p:txBody>
      </p:sp>
      <p:sp>
        <p:nvSpPr>
          <p:cNvPr id="9" name="Text 6"/>
          <p:cNvSpPr/>
          <p:nvPr/>
        </p:nvSpPr>
        <p:spPr>
          <a:xfrm>
            <a:off x="15506569" y="9122834"/>
            <a:ext cx="2011826" cy="440267"/>
          </a:xfrm>
          <a:prstGeom prst="rect">
            <a:avLst/>
          </a:prstGeom>
          <a:noFill/>
          <a:ln/>
        </p:spPr>
        <p:txBody>
          <a:bodyPr wrap="square" lIns="25400" tIns="25400" rIns="25400" bIns="25400" rtlCol="0" anchor="t">
            <a:normAutofit/>
          </a:bodyPr>
          <a:lstStyle/>
          <a:p>
            <a:pPr algn="l" indent="0" marL="0">
              <a:buNone/>
            </a:pPr>
            <a:r>
              <a:rPr lang="en-US" sz="2400" dirty="0">
                <a:solidFill>
                  <a:srgbClr val="E8B44A"/>
                </a:solidFill>
                <a:latin typeface="IBM Plex Mono" pitchFamily="34" charset="0"/>
                <a:ea typeface="IBM Plex Mono" pitchFamily="34" charset="-122"/>
                <a:cs typeface="IBM Plex Mono" pitchFamily="34" charset="-120"/>
              </a:rPr>
              <a:t>poe2.coach</a:t>
            </a:r>
            <a:endParaRPr lang="en-US"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E0F12"/>
        </a:solidFill>
      </p:bgPr>
    </p:bg>
    <p:spTree>
      <p:nvGrpSpPr>
        <p:cNvPr id="1" name=""/>
        <p:cNvGrpSpPr/>
        <p:nvPr/>
      </p:nvGrpSpPr>
      <p:grpSpPr>
        <a:xfrm>
          <a:off x="0" y="0"/>
          <a:ext cx="0" cy="0"/>
          <a:chOff x="0" y="0"/>
          <a:chExt cx="0" cy="0"/>
        </a:xfrm>
      </p:grpSpPr>
      <p:sp>
        <p:nvSpPr>
          <p:cNvPr id="2" name="Text 0"/>
          <p:cNvSpPr/>
          <p:nvPr/>
        </p:nvSpPr>
        <p:spPr>
          <a:xfrm>
            <a:off x="952500" y="838068"/>
            <a:ext cx="18021301" cy="334433"/>
          </a:xfrm>
          <a:prstGeom prst="rect">
            <a:avLst/>
          </a:prstGeom>
          <a:noFill/>
          <a:ln/>
        </p:spPr>
        <p:txBody>
          <a:bodyPr wrap="square" lIns="25400" tIns="25400" rIns="25400" bIns="25400" rtlCol="0" anchor="t">
            <a:normAutofit/>
          </a:bodyPr>
          <a:lstStyle/>
          <a:p>
            <a:pPr algn="l" indent="0" marL="0">
              <a:buNone/>
            </a:pPr>
            <a:r>
              <a:rPr lang="en-US" sz="1800" spc="360" kern="0" dirty="0">
                <a:solidFill>
                  <a:srgbClr val="A9843A"/>
                </a:solidFill>
                <a:latin typeface="IBM Plex Sans" pitchFamily="34" charset="0"/>
                <a:ea typeface="IBM Plex Sans" pitchFamily="34" charset="-122"/>
                <a:cs typeface="IBM Plex Sans" pitchFamily="34" charset="-120"/>
              </a:rPr>
              <a:t>THE USER PROBLEM</a:t>
            </a:r>
            <a:endParaRPr lang="en-US" sz="1800" dirty="0"/>
          </a:p>
        </p:txBody>
      </p:sp>
      <p:sp>
        <p:nvSpPr>
          <p:cNvPr id="3" name="Text 1"/>
          <p:cNvSpPr/>
          <p:nvPr/>
        </p:nvSpPr>
        <p:spPr>
          <a:xfrm>
            <a:off x="952500" y="1286702"/>
            <a:ext cx="18021301" cy="708488"/>
          </a:xfrm>
          <a:prstGeom prst="rect">
            <a:avLst/>
          </a:prstGeom>
          <a:noFill/>
          <a:ln/>
        </p:spPr>
        <p:txBody>
          <a:bodyPr wrap="square" lIns="25400" tIns="25400" rIns="25400" bIns="25400" rtlCol="0" anchor="t">
            <a:normAutofit/>
          </a:bodyPr>
          <a:lstStyle/>
          <a:p>
            <a:pPr algn="l" indent="0" marL="0">
              <a:lnSpc>
                <a:spcPct val="72000"/>
              </a:lnSpc>
              <a:buNone/>
            </a:pPr>
            <a:r>
              <a:rPr lang="en-US" sz="4800" b="1" dirty="0">
                <a:solidFill>
                  <a:srgbClr val="F4F1EA"/>
                </a:solidFill>
                <a:latin typeface="Spectral" pitchFamily="34" charset="0"/>
                <a:ea typeface="Spectral" pitchFamily="34" charset="-122"/>
                <a:cs typeface="Spectral" pitchFamily="34" charset="-120"/>
              </a:rPr>
              <a:t>The information is fragmented</a:t>
            </a:r>
            <a:endParaRPr lang="en-US" sz="4800" dirty="0"/>
          </a:p>
        </p:txBody>
      </p:sp>
      <p:sp>
        <p:nvSpPr>
          <p:cNvPr id="4" name="Shape 2"/>
          <p:cNvSpPr/>
          <p:nvPr/>
        </p:nvSpPr>
        <p:spPr>
          <a:xfrm>
            <a:off x="952500" y="2414158"/>
            <a:ext cx="21167" cy="1202697"/>
          </a:xfrm>
          <a:prstGeom prst="rect">
            <a:avLst/>
          </a:prstGeom>
          <a:solidFill>
            <a:srgbClr val="E8B44A"/>
          </a:solidFill>
          <a:ln/>
        </p:spPr>
      </p:sp>
      <p:sp>
        <p:nvSpPr>
          <p:cNvPr id="5" name="Text 3"/>
          <p:cNvSpPr/>
          <p:nvPr/>
        </p:nvSpPr>
        <p:spPr>
          <a:xfrm>
            <a:off x="1240234" y="2414158"/>
            <a:ext cx="17704793" cy="334433"/>
          </a:xfrm>
          <a:prstGeom prst="rect">
            <a:avLst/>
          </a:prstGeom>
          <a:noFill/>
          <a:ln/>
        </p:spPr>
        <p:txBody>
          <a:bodyPr wrap="square" lIns="25400" tIns="25400" rIns="25400" bIns="25400" rtlCol="0" anchor="t">
            <a:normAutofit/>
          </a:bodyPr>
          <a:lstStyle/>
          <a:p>
            <a:pPr algn="l" indent="0" marL="0">
              <a:buNone/>
            </a:pPr>
            <a:r>
              <a:rPr lang="en-US" sz="1800" spc="288" kern="0" dirty="0">
                <a:solidFill>
                  <a:srgbClr val="E8B44A"/>
                </a:solidFill>
                <a:latin typeface="IBM Plex Sans" pitchFamily="34" charset="0"/>
                <a:ea typeface="IBM Plex Sans" pitchFamily="34" charset="-122"/>
                <a:cs typeface="IBM Plex Sans" pitchFamily="34" charset="-120"/>
              </a:rPr>
              <a:t>WHO THIS IS FOR</a:t>
            </a:r>
            <a:endParaRPr lang="en-US" sz="1800" dirty="0"/>
          </a:p>
        </p:txBody>
      </p:sp>
      <p:sp>
        <p:nvSpPr>
          <p:cNvPr id="6" name="Text 4"/>
          <p:cNvSpPr/>
          <p:nvPr/>
        </p:nvSpPr>
        <p:spPr>
          <a:xfrm>
            <a:off x="1240234" y="2824758"/>
            <a:ext cx="16578124" cy="830196"/>
          </a:xfrm>
          <a:prstGeom prst="rect">
            <a:avLst/>
          </a:prstGeom>
          <a:noFill/>
          <a:ln/>
        </p:spPr>
        <p:txBody>
          <a:bodyPr wrap="square" lIns="25400" tIns="25400" rIns="25400" bIns="25400" rtlCol="0" anchor="t">
            <a:normAutofit/>
          </a:bodyPr>
          <a:lstStyle/>
          <a:p>
            <a:pPr algn="l" indent="0" marL="0">
              <a:lnSpc>
                <a:spcPct val="98526"/>
              </a:lnSpc>
              <a:buNone/>
            </a:pPr>
            <a:r>
              <a:rPr lang="en-US" sz="2400" dirty="0">
                <a:solidFill>
                  <a:srgbClr val="F4F1EA"/>
                </a:solidFill>
                <a:latin typeface="IBM Plex Sans" pitchFamily="34" charset="0"/>
                <a:ea typeface="IBM Plex Sans" pitchFamily="34" charset="-122"/>
                <a:cs typeface="IBM Plex Sans" pitchFamily="34" charset="-120"/>
              </a:rPr>
              <a:t>Path of Exile 2 players who want to understand the economy and make better decisions—from learning crafting basics to choosing what to flip, farm or craft.</a:t>
            </a:r>
            <a:endParaRPr lang="en-US" sz="2400" dirty="0"/>
          </a:p>
        </p:txBody>
      </p:sp>
      <p:sp>
        <p:nvSpPr>
          <p:cNvPr id="7" name="Shape 5"/>
          <p:cNvSpPr/>
          <p:nvPr/>
        </p:nvSpPr>
        <p:spPr>
          <a:xfrm>
            <a:off x="952500" y="4073922"/>
            <a:ext cx="3093641" cy="1918395"/>
          </a:xfrm>
          <a:prstGeom prst="roundRect">
            <a:avLst>
              <a:gd name="adj" fmla="val 2979"/>
            </a:avLst>
          </a:prstGeom>
          <a:solidFill>
            <a:srgbClr val="171A1F"/>
          </a:solidFill>
          <a:ln w="10583">
            <a:solidFill>
              <a:srgbClr val="2A2E35"/>
            </a:solidFill>
            <a:prstDash val="solid"/>
          </a:ln>
        </p:spPr>
      </p:sp>
      <p:sp>
        <p:nvSpPr>
          <p:cNvPr id="8" name="Text 6"/>
          <p:cNvSpPr/>
          <p:nvPr/>
        </p:nvSpPr>
        <p:spPr>
          <a:xfrm>
            <a:off x="1229651" y="4408289"/>
            <a:ext cx="2793272" cy="403721"/>
          </a:xfrm>
          <a:prstGeom prst="rect">
            <a:avLst/>
          </a:prstGeom>
          <a:noFill/>
          <a:ln/>
        </p:spPr>
        <p:txBody>
          <a:bodyPr wrap="square" lIns="25400" tIns="25400" rIns="25400" bIns="25400" rtlCol="0" anchor="t">
            <a:normAutofit/>
          </a:bodyPr>
          <a:lstStyle/>
          <a:p>
            <a:pPr algn="l" indent="0" marL="0">
              <a:lnSpc>
                <a:spcPct val="90947"/>
              </a:lnSpc>
              <a:buNone/>
            </a:pPr>
            <a:r>
              <a:rPr lang="en-US" sz="2400" b="1" dirty="0">
                <a:solidFill>
                  <a:srgbClr val="F4F1EA"/>
                </a:solidFill>
                <a:latin typeface="IBM Plex Sans" pitchFamily="34" charset="0"/>
                <a:ea typeface="IBM Plex Sans" pitchFamily="34" charset="-122"/>
                <a:cs typeface="IBM Plex Sans" pitchFamily="34" charset="-120"/>
              </a:rPr>
              <a:t>Market prices</a:t>
            </a:r>
            <a:endParaRPr lang="en-US" sz="2400" dirty="0"/>
          </a:p>
        </p:txBody>
      </p:sp>
      <p:sp>
        <p:nvSpPr>
          <p:cNvPr id="9" name="Text 7"/>
          <p:cNvSpPr/>
          <p:nvPr/>
        </p:nvSpPr>
        <p:spPr>
          <a:xfrm>
            <a:off x="1229651" y="4945228"/>
            <a:ext cx="2615539" cy="732301"/>
          </a:xfrm>
          <a:prstGeom prst="rect">
            <a:avLst/>
          </a:prstGeom>
          <a:noFill/>
          <a:ln/>
        </p:spPr>
        <p:txBody>
          <a:bodyPr wrap="square" lIns="25400" tIns="25400" rIns="25400" bIns="25400" rtlCol="0" anchor="t">
            <a:normAutofit/>
          </a:bodyPr>
          <a:lstStyle/>
          <a:p>
            <a:pPr algn="l" indent="0" marL="0">
              <a:lnSpc>
                <a:spcPct val="102516"/>
              </a:lnSpc>
              <a:buNone/>
            </a:pPr>
            <a:r>
              <a:rPr lang="en-US" sz="2025" dirty="0">
                <a:solidFill>
                  <a:srgbClr val="9B988F"/>
                </a:solidFill>
                <a:latin typeface="IBM Plex Sans" pitchFamily="34" charset="0"/>
                <a:ea typeface="IBM Plex Sans" pitchFamily="34" charset="-122"/>
                <a:cs typeface="IBM Plex Sans" pitchFamily="34" charset="-120"/>
              </a:rPr>
              <a:t>Aggregated, not per trade</a:t>
            </a:r>
            <a:endParaRPr lang="en-US" sz="2025" dirty="0"/>
          </a:p>
        </p:txBody>
      </p:sp>
      <p:sp>
        <p:nvSpPr>
          <p:cNvPr id="10" name="Shape 8"/>
          <p:cNvSpPr/>
          <p:nvPr/>
        </p:nvSpPr>
        <p:spPr>
          <a:xfrm>
            <a:off x="4274675" y="4073922"/>
            <a:ext cx="3093806" cy="1918395"/>
          </a:xfrm>
          <a:prstGeom prst="roundRect">
            <a:avLst>
              <a:gd name="adj" fmla="val 2979"/>
            </a:avLst>
          </a:prstGeom>
          <a:solidFill>
            <a:srgbClr val="171A1F"/>
          </a:solidFill>
          <a:ln w="10583">
            <a:solidFill>
              <a:srgbClr val="2A2E35"/>
            </a:solidFill>
            <a:prstDash val="solid"/>
          </a:ln>
        </p:spPr>
      </p:sp>
      <p:sp>
        <p:nvSpPr>
          <p:cNvPr id="11" name="Text 9"/>
          <p:cNvSpPr/>
          <p:nvPr/>
        </p:nvSpPr>
        <p:spPr>
          <a:xfrm>
            <a:off x="4551826" y="4408289"/>
            <a:ext cx="2793454" cy="403721"/>
          </a:xfrm>
          <a:prstGeom prst="rect">
            <a:avLst/>
          </a:prstGeom>
          <a:noFill/>
          <a:ln/>
        </p:spPr>
        <p:txBody>
          <a:bodyPr wrap="square" lIns="25400" tIns="25400" rIns="25400" bIns="25400" rtlCol="0" anchor="t">
            <a:normAutofit/>
          </a:bodyPr>
          <a:lstStyle/>
          <a:p>
            <a:pPr algn="l" indent="0" marL="0">
              <a:lnSpc>
                <a:spcPct val="90947"/>
              </a:lnSpc>
              <a:buNone/>
            </a:pPr>
            <a:r>
              <a:rPr lang="en-US" sz="2400" b="1" dirty="0">
                <a:solidFill>
                  <a:srgbClr val="F4F1EA"/>
                </a:solidFill>
                <a:latin typeface="IBM Plex Sans" pitchFamily="34" charset="0"/>
                <a:ea typeface="IBM Plex Sans" pitchFamily="34" charset="-122"/>
                <a:cs typeface="IBM Plex Sans" pitchFamily="34" charset="-120"/>
              </a:rPr>
              <a:t>Live listings</a:t>
            </a:r>
            <a:endParaRPr lang="en-US" sz="2400" dirty="0"/>
          </a:p>
        </p:txBody>
      </p:sp>
      <p:sp>
        <p:nvSpPr>
          <p:cNvPr id="12" name="Text 10"/>
          <p:cNvSpPr/>
          <p:nvPr/>
        </p:nvSpPr>
        <p:spPr>
          <a:xfrm>
            <a:off x="4551826" y="4945228"/>
            <a:ext cx="2793454" cy="385200"/>
          </a:xfrm>
          <a:prstGeom prst="rect">
            <a:avLst/>
          </a:prstGeom>
          <a:noFill/>
          <a:ln/>
        </p:spPr>
        <p:txBody>
          <a:bodyPr wrap="square" lIns="25400" tIns="25400" rIns="25400" bIns="25400" rtlCol="0" anchor="t">
            <a:normAutofit/>
          </a:bodyPr>
          <a:lstStyle/>
          <a:p>
            <a:pPr algn="l" indent="0" marL="0">
              <a:lnSpc>
                <a:spcPct val="102516"/>
              </a:lnSpc>
              <a:buNone/>
            </a:pPr>
            <a:r>
              <a:rPr lang="en-US" sz="2025" dirty="0">
                <a:solidFill>
                  <a:srgbClr val="9B988F"/>
                </a:solidFill>
                <a:latin typeface="IBM Plex Sans" pitchFamily="34" charset="0"/>
                <a:ea typeface="IBM Plex Sans" pitchFamily="34" charset="-122"/>
                <a:cs typeface="IBM Plex Sans" pitchFamily="34" charset="-120"/>
              </a:rPr>
              <a:t>Asking, not selling</a:t>
            </a:r>
            <a:endParaRPr lang="en-US" sz="2025" dirty="0"/>
          </a:p>
        </p:txBody>
      </p:sp>
      <p:sp>
        <p:nvSpPr>
          <p:cNvPr id="13" name="Shape 11"/>
          <p:cNvSpPr/>
          <p:nvPr/>
        </p:nvSpPr>
        <p:spPr>
          <a:xfrm>
            <a:off x="7597015" y="4073922"/>
            <a:ext cx="3093806" cy="1918395"/>
          </a:xfrm>
          <a:prstGeom prst="roundRect">
            <a:avLst>
              <a:gd name="adj" fmla="val 2979"/>
            </a:avLst>
          </a:prstGeom>
          <a:solidFill>
            <a:srgbClr val="171A1F"/>
          </a:solidFill>
          <a:ln w="10583">
            <a:solidFill>
              <a:srgbClr val="2A2E35"/>
            </a:solidFill>
            <a:prstDash val="solid"/>
          </a:ln>
        </p:spPr>
      </p:sp>
      <p:sp>
        <p:nvSpPr>
          <p:cNvPr id="14" name="Text 12"/>
          <p:cNvSpPr/>
          <p:nvPr/>
        </p:nvSpPr>
        <p:spPr>
          <a:xfrm>
            <a:off x="7874166" y="4408289"/>
            <a:ext cx="2793454" cy="403721"/>
          </a:xfrm>
          <a:prstGeom prst="rect">
            <a:avLst/>
          </a:prstGeom>
          <a:noFill/>
          <a:ln/>
        </p:spPr>
        <p:txBody>
          <a:bodyPr wrap="square" lIns="25400" tIns="25400" rIns="25400" bIns="25400" rtlCol="0" anchor="t">
            <a:normAutofit/>
          </a:bodyPr>
          <a:lstStyle/>
          <a:p>
            <a:pPr algn="l" indent="0" marL="0">
              <a:lnSpc>
                <a:spcPct val="90947"/>
              </a:lnSpc>
              <a:buNone/>
            </a:pPr>
            <a:r>
              <a:rPr lang="en-US" sz="2400" b="1" dirty="0">
                <a:solidFill>
                  <a:srgbClr val="F4F1EA"/>
                </a:solidFill>
                <a:latin typeface="IBM Plex Sans" pitchFamily="34" charset="0"/>
                <a:ea typeface="IBM Plex Sans" pitchFamily="34" charset="-122"/>
                <a:cs typeface="IBM Plex Sans" pitchFamily="34" charset="-120"/>
              </a:rPr>
              <a:t>Price history</a:t>
            </a:r>
            <a:endParaRPr lang="en-US" sz="2400" dirty="0"/>
          </a:p>
        </p:txBody>
      </p:sp>
      <p:sp>
        <p:nvSpPr>
          <p:cNvPr id="15" name="Text 13"/>
          <p:cNvSpPr/>
          <p:nvPr/>
        </p:nvSpPr>
        <p:spPr>
          <a:xfrm>
            <a:off x="7874166" y="4945228"/>
            <a:ext cx="2793454" cy="385200"/>
          </a:xfrm>
          <a:prstGeom prst="rect">
            <a:avLst/>
          </a:prstGeom>
          <a:noFill/>
          <a:ln/>
        </p:spPr>
        <p:txBody>
          <a:bodyPr wrap="square" lIns="25400" tIns="25400" rIns="25400" bIns="25400" rtlCol="0" anchor="t">
            <a:normAutofit/>
          </a:bodyPr>
          <a:lstStyle/>
          <a:p>
            <a:pPr algn="l" indent="0" marL="0">
              <a:lnSpc>
                <a:spcPct val="102516"/>
              </a:lnSpc>
              <a:buNone/>
            </a:pPr>
            <a:r>
              <a:rPr lang="en-US" sz="2025" dirty="0">
                <a:solidFill>
                  <a:srgbClr val="9B988F"/>
                </a:solidFill>
                <a:latin typeface="IBM Plex Sans" pitchFamily="34" charset="0"/>
                <a:ea typeface="IBM Plex Sans" pitchFamily="34" charset="-122"/>
                <a:cs typeface="IBM Plex Sans" pitchFamily="34" charset="-120"/>
              </a:rPr>
              <a:t>Separate tool again</a:t>
            </a:r>
            <a:endParaRPr lang="en-US" sz="2025" dirty="0"/>
          </a:p>
        </p:txBody>
      </p:sp>
      <p:sp>
        <p:nvSpPr>
          <p:cNvPr id="16" name="Shape 14"/>
          <p:cNvSpPr/>
          <p:nvPr/>
        </p:nvSpPr>
        <p:spPr>
          <a:xfrm>
            <a:off x="10919354" y="4073922"/>
            <a:ext cx="3093806" cy="1918395"/>
          </a:xfrm>
          <a:prstGeom prst="roundRect">
            <a:avLst>
              <a:gd name="adj" fmla="val 2979"/>
            </a:avLst>
          </a:prstGeom>
          <a:solidFill>
            <a:srgbClr val="171A1F"/>
          </a:solidFill>
          <a:ln w="10583">
            <a:solidFill>
              <a:srgbClr val="2A2E35"/>
            </a:solidFill>
            <a:prstDash val="solid"/>
          </a:ln>
        </p:spPr>
      </p:sp>
      <p:sp>
        <p:nvSpPr>
          <p:cNvPr id="17" name="Text 15"/>
          <p:cNvSpPr/>
          <p:nvPr/>
        </p:nvSpPr>
        <p:spPr>
          <a:xfrm>
            <a:off x="11196506" y="4408289"/>
            <a:ext cx="2615704" cy="769342"/>
          </a:xfrm>
          <a:prstGeom prst="rect">
            <a:avLst/>
          </a:prstGeom>
          <a:noFill/>
          <a:ln/>
        </p:spPr>
        <p:txBody>
          <a:bodyPr wrap="square" lIns="25400" tIns="25400" rIns="25400" bIns="25400" rtlCol="0" anchor="t">
            <a:normAutofit/>
          </a:bodyPr>
          <a:lstStyle/>
          <a:p>
            <a:pPr algn="l" indent="0" marL="0">
              <a:lnSpc>
                <a:spcPct val="90947"/>
              </a:lnSpc>
              <a:buNone/>
            </a:pPr>
            <a:r>
              <a:rPr lang="en-US" sz="2400" b="1" dirty="0">
                <a:solidFill>
                  <a:srgbClr val="F4F1EA"/>
                </a:solidFill>
                <a:latin typeface="IBM Plex Sans" pitchFamily="34" charset="0"/>
                <a:ea typeface="IBM Plex Sans" pitchFamily="34" charset="-122"/>
                <a:cs typeface="IBM Plex Sans" pitchFamily="34" charset="-120"/>
              </a:rPr>
              <a:t>Crafting mechanics</a:t>
            </a:r>
            <a:endParaRPr lang="en-US" sz="2400" dirty="0"/>
          </a:p>
        </p:txBody>
      </p:sp>
      <p:sp>
        <p:nvSpPr>
          <p:cNvPr id="18" name="Text 16"/>
          <p:cNvSpPr/>
          <p:nvPr/>
        </p:nvSpPr>
        <p:spPr>
          <a:xfrm>
            <a:off x="11196506" y="5310849"/>
            <a:ext cx="2793454" cy="385200"/>
          </a:xfrm>
          <a:prstGeom prst="rect">
            <a:avLst/>
          </a:prstGeom>
          <a:noFill/>
          <a:ln/>
        </p:spPr>
        <p:txBody>
          <a:bodyPr wrap="square" lIns="25400" tIns="25400" rIns="25400" bIns="25400" rtlCol="0" anchor="t">
            <a:normAutofit/>
          </a:bodyPr>
          <a:lstStyle/>
          <a:p>
            <a:pPr algn="l" indent="0" marL="0">
              <a:lnSpc>
                <a:spcPct val="102516"/>
              </a:lnSpc>
              <a:buNone/>
            </a:pPr>
            <a:r>
              <a:rPr lang="en-US" sz="2025" dirty="0">
                <a:solidFill>
                  <a:srgbClr val="9B988F"/>
                </a:solidFill>
                <a:latin typeface="IBM Plex Sans" pitchFamily="34" charset="0"/>
                <a:ea typeface="IBM Plex Sans" pitchFamily="34" charset="-122"/>
                <a:cs typeface="IBM Plex Sans" pitchFamily="34" charset="-120"/>
              </a:rPr>
              <a:t>Patch-sensitive</a:t>
            </a:r>
            <a:endParaRPr lang="en-US" sz="2025" dirty="0"/>
          </a:p>
        </p:txBody>
      </p:sp>
      <p:sp>
        <p:nvSpPr>
          <p:cNvPr id="19" name="Shape 17"/>
          <p:cNvSpPr/>
          <p:nvPr/>
        </p:nvSpPr>
        <p:spPr>
          <a:xfrm>
            <a:off x="14241695" y="4073922"/>
            <a:ext cx="3093806" cy="1918395"/>
          </a:xfrm>
          <a:prstGeom prst="roundRect">
            <a:avLst>
              <a:gd name="adj" fmla="val 2979"/>
            </a:avLst>
          </a:prstGeom>
          <a:solidFill>
            <a:srgbClr val="171A1F"/>
          </a:solidFill>
          <a:ln w="10583">
            <a:solidFill>
              <a:srgbClr val="2A2E35"/>
            </a:solidFill>
            <a:prstDash val="solid"/>
          </a:ln>
        </p:spPr>
      </p:sp>
      <p:sp>
        <p:nvSpPr>
          <p:cNvPr id="20" name="Text 18"/>
          <p:cNvSpPr/>
          <p:nvPr/>
        </p:nvSpPr>
        <p:spPr>
          <a:xfrm>
            <a:off x="14518845" y="4408289"/>
            <a:ext cx="2615704" cy="769342"/>
          </a:xfrm>
          <a:prstGeom prst="rect">
            <a:avLst/>
          </a:prstGeom>
          <a:noFill/>
          <a:ln/>
        </p:spPr>
        <p:txBody>
          <a:bodyPr wrap="square" lIns="25400" tIns="25400" rIns="25400" bIns="25400" rtlCol="0" anchor="t">
            <a:normAutofit/>
          </a:bodyPr>
          <a:lstStyle/>
          <a:p>
            <a:pPr algn="l" indent="0" marL="0">
              <a:lnSpc>
                <a:spcPct val="90947"/>
              </a:lnSpc>
              <a:buNone/>
            </a:pPr>
            <a:r>
              <a:rPr lang="en-US" sz="2400" b="1" dirty="0">
                <a:solidFill>
                  <a:srgbClr val="F4F1EA"/>
                </a:solidFill>
                <a:latin typeface="IBM Plex Sans" pitchFamily="34" charset="0"/>
                <a:ea typeface="IBM Plex Sans" pitchFamily="34" charset="-122"/>
                <a:cs typeface="IBM Plex Sans" pitchFamily="34" charset="-120"/>
              </a:rPr>
              <a:t>Community knowledge</a:t>
            </a:r>
            <a:endParaRPr lang="en-US" sz="2400" dirty="0"/>
          </a:p>
        </p:txBody>
      </p:sp>
      <p:sp>
        <p:nvSpPr>
          <p:cNvPr id="21" name="Text 19"/>
          <p:cNvSpPr/>
          <p:nvPr/>
        </p:nvSpPr>
        <p:spPr>
          <a:xfrm>
            <a:off x="14518845" y="5310849"/>
            <a:ext cx="2793454" cy="385200"/>
          </a:xfrm>
          <a:prstGeom prst="rect">
            <a:avLst/>
          </a:prstGeom>
          <a:noFill/>
          <a:ln/>
        </p:spPr>
        <p:txBody>
          <a:bodyPr wrap="square" lIns="25400" tIns="25400" rIns="25400" bIns="25400" rtlCol="0" anchor="t">
            <a:normAutofit/>
          </a:bodyPr>
          <a:lstStyle/>
          <a:p>
            <a:pPr algn="l" indent="0" marL="0">
              <a:lnSpc>
                <a:spcPct val="102516"/>
              </a:lnSpc>
              <a:buNone/>
            </a:pPr>
            <a:r>
              <a:rPr lang="en-US" sz="2025" dirty="0">
                <a:solidFill>
                  <a:srgbClr val="9B988F"/>
                </a:solidFill>
                <a:latin typeface="IBM Plex Sans" pitchFamily="34" charset="0"/>
                <a:ea typeface="IBM Plex Sans" pitchFamily="34" charset="-122"/>
                <a:cs typeface="IBM Plex Sans" pitchFamily="34" charset="-120"/>
              </a:rPr>
              <a:t>Scattered, unverified</a:t>
            </a:r>
            <a:endParaRPr lang="en-US" sz="2025" dirty="0"/>
          </a:p>
        </p:txBody>
      </p:sp>
      <p:sp>
        <p:nvSpPr>
          <p:cNvPr id="22" name="Shape 20"/>
          <p:cNvSpPr/>
          <p:nvPr/>
        </p:nvSpPr>
        <p:spPr>
          <a:xfrm>
            <a:off x="952500" y="6449384"/>
            <a:ext cx="16383001" cy="1326885"/>
          </a:xfrm>
          <a:prstGeom prst="rect">
            <a:avLst/>
          </a:prstGeom>
          <a:solidFill>
            <a:srgbClr val="131519"/>
          </a:solidFill>
          <a:ln/>
        </p:spPr>
      </p:sp>
      <p:sp>
        <p:nvSpPr>
          <p:cNvPr id="23" name="Shape 21"/>
          <p:cNvSpPr/>
          <p:nvPr/>
        </p:nvSpPr>
        <p:spPr>
          <a:xfrm>
            <a:off x="952500" y="7765686"/>
            <a:ext cx="16383001" cy="10583"/>
          </a:xfrm>
          <a:prstGeom prst="rect">
            <a:avLst/>
          </a:prstGeom>
          <a:solidFill>
            <a:srgbClr val="2A2E35"/>
          </a:solidFill>
          <a:ln/>
        </p:spPr>
      </p:sp>
      <p:sp>
        <p:nvSpPr>
          <p:cNvPr id="24" name="Shape 22"/>
          <p:cNvSpPr/>
          <p:nvPr/>
        </p:nvSpPr>
        <p:spPr>
          <a:xfrm>
            <a:off x="952500" y="6449384"/>
            <a:ext cx="16383001" cy="10583"/>
          </a:xfrm>
          <a:prstGeom prst="rect">
            <a:avLst/>
          </a:prstGeom>
          <a:solidFill>
            <a:srgbClr val="2A2E35"/>
          </a:solidFill>
          <a:ln/>
        </p:spPr>
      </p:sp>
      <p:sp>
        <p:nvSpPr>
          <p:cNvPr id="25" name="Text 23"/>
          <p:cNvSpPr/>
          <p:nvPr/>
        </p:nvSpPr>
        <p:spPr>
          <a:xfrm>
            <a:off x="952500" y="6821785"/>
            <a:ext cx="4626108" cy="620183"/>
          </a:xfrm>
          <a:prstGeom prst="rect">
            <a:avLst/>
          </a:prstGeom>
          <a:noFill/>
          <a:ln/>
        </p:spPr>
        <p:txBody>
          <a:bodyPr wrap="square" lIns="25400" tIns="25400" rIns="25400" bIns="25400" rtlCol="0" anchor="t">
            <a:normAutofit/>
          </a:bodyPr>
          <a:lstStyle/>
          <a:p>
            <a:pPr algn="l" indent="0" marL="0">
              <a:buNone/>
            </a:pPr>
            <a:r>
              <a:rPr lang="en-US" sz="3000" dirty="0">
                <a:solidFill>
                  <a:srgbClr val="E8B44A"/>
                </a:solidFill>
                <a:latin typeface="Spectral" pitchFamily="34" charset="0"/>
                <a:ea typeface="Spectral" pitchFamily="34" charset="-122"/>
                <a:cs typeface="Spectral" pitchFamily="34" charset="-120"/>
              </a:rPr>
              <a:t>Flip, farm, craft, or hold?</a:t>
            </a:r>
            <a:endParaRPr lang="en-US" sz="3000" dirty="0"/>
          </a:p>
        </p:txBody>
      </p:sp>
      <p:sp>
        <p:nvSpPr>
          <p:cNvPr id="26" name="Text 24"/>
          <p:cNvSpPr/>
          <p:nvPr/>
        </p:nvSpPr>
        <p:spPr>
          <a:xfrm>
            <a:off x="5500853" y="6911744"/>
            <a:ext cx="9805013" cy="440267"/>
          </a:xfrm>
          <a:prstGeom prst="rect">
            <a:avLst/>
          </a:prstGeom>
          <a:noFill/>
          <a:ln/>
        </p:spPr>
        <p:txBody>
          <a:bodyPr wrap="square" lIns="25400" tIns="25400" rIns="25400" bIns="25400" rtlCol="0" anchor="t">
            <a:normAutofit/>
          </a:bodyPr>
          <a:lstStyle/>
          <a:p>
            <a:pPr algn="l" indent="0" marL="0">
              <a:buNone/>
            </a:pPr>
            <a:r>
              <a:rPr lang="en-US" sz="2400" dirty="0">
                <a:solidFill>
                  <a:srgbClr val="9B988F"/>
                </a:solidFill>
                <a:latin typeface="IBM Plex Sans" pitchFamily="34" charset="0"/>
                <a:ea typeface="IBM Plex Sans" pitchFamily="34" charset="-122"/>
                <a:cs typeface="IBM Plex Sans" pitchFamily="34" charset="-120"/>
              </a:rPr>
              <a:t>One decision · often 1–2 minutes of tab-switching · still uncertain</a:t>
            </a:r>
            <a:endParaRPr lang="en-US" sz="2400" dirty="0"/>
          </a:p>
        </p:txBody>
      </p:sp>
      <p:sp>
        <p:nvSpPr>
          <p:cNvPr id="27" name="Text 25"/>
          <p:cNvSpPr/>
          <p:nvPr/>
        </p:nvSpPr>
        <p:spPr>
          <a:xfrm>
            <a:off x="952500" y="8233338"/>
            <a:ext cx="5699688" cy="334433"/>
          </a:xfrm>
          <a:prstGeom prst="rect">
            <a:avLst/>
          </a:prstGeom>
          <a:noFill/>
          <a:ln/>
        </p:spPr>
        <p:txBody>
          <a:bodyPr wrap="square" lIns="25400" tIns="25400" rIns="25400" bIns="25400" rtlCol="0" anchor="t">
            <a:normAutofit/>
          </a:bodyPr>
          <a:lstStyle/>
          <a:p>
            <a:pPr algn="l" indent="0" marL="0">
              <a:buNone/>
            </a:pPr>
            <a:r>
              <a:rPr lang="en-US" sz="1800" spc="288" kern="0" dirty="0">
                <a:solidFill>
                  <a:srgbClr val="E8B44A"/>
                </a:solidFill>
                <a:latin typeface="IBM Plex Sans" pitchFamily="34" charset="0"/>
                <a:ea typeface="IBM Plex Sans" pitchFamily="34" charset="-122"/>
                <a:cs typeface="IBM Plex Sans" pitchFamily="34" charset="-120"/>
              </a:rPr>
              <a:t>NEW TO POE2 CRAFTING</a:t>
            </a:r>
            <a:endParaRPr lang="en-US" sz="1800" dirty="0"/>
          </a:p>
        </p:txBody>
      </p:sp>
      <p:sp>
        <p:nvSpPr>
          <p:cNvPr id="28" name="Text 26"/>
          <p:cNvSpPr/>
          <p:nvPr/>
        </p:nvSpPr>
        <p:spPr>
          <a:xfrm>
            <a:off x="952500" y="8643938"/>
            <a:ext cx="5336980" cy="732301"/>
          </a:xfrm>
          <a:prstGeom prst="rect">
            <a:avLst/>
          </a:prstGeom>
          <a:noFill/>
          <a:ln/>
        </p:spPr>
        <p:txBody>
          <a:bodyPr wrap="square" lIns="25400" tIns="25400" rIns="25400" bIns="25400" rtlCol="0" anchor="t">
            <a:normAutofit/>
          </a:bodyPr>
          <a:lstStyle/>
          <a:p>
            <a:pPr algn="l" indent="0" marL="0">
              <a:lnSpc>
                <a:spcPct val="102516"/>
              </a:lnSpc>
              <a:buNone/>
            </a:pPr>
            <a:r>
              <a:rPr lang="en-US" sz="2025" dirty="0">
                <a:solidFill>
                  <a:srgbClr val="9B988F"/>
                </a:solidFill>
                <a:latin typeface="IBM Plex Sans" pitchFamily="34" charset="0"/>
                <a:ea typeface="IBM Plex Sans" pitchFamily="34" charset="-122"/>
                <a:cs typeface="IBM Plex Sans" pitchFamily="34" charset="-120"/>
              </a:rPr>
              <a:t>Needs mechanics, costs and crafting steps explained clearly.</a:t>
            </a:r>
            <a:endParaRPr lang="en-US" sz="2025" dirty="0"/>
          </a:p>
        </p:txBody>
      </p:sp>
      <p:sp>
        <p:nvSpPr>
          <p:cNvPr id="29" name="Text 27"/>
          <p:cNvSpPr/>
          <p:nvPr/>
        </p:nvSpPr>
        <p:spPr>
          <a:xfrm>
            <a:off x="6553068" y="8233338"/>
            <a:ext cx="5699869" cy="334433"/>
          </a:xfrm>
          <a:prstGeom prst="rect">
            <a:avLst/>
          </a:prstGeom>
          <a:noFill/>
          <a:ln/>
        </p:spPr>
        <p:txBody>
          <a:bodyPr wrap="square" lIns="25400" tIns="25400" rIns="25400" bIns="25400" rtlCol="0" anchor="t">
            <a:normAutofit/>
          </a:bodyPr>
          <a:lstStyle/>
          <a:p>
            <a:pPr algn="l" indent="0" marL="0">
              <a:buNone/>
            </a:pPr>
            <a:r>
              <a:rPr lang="en-US" sz="1800" spc="288" kern="0" dirty="0">
                <a:solidFill>
                  <a:srgbClr val="E8B44A"/>
                </a:solidFill>
                <a:latin typeface="IBM Plex Sans" pitchFamily="34" charset="0"/>
                <a:ea typeface="IBM Plex Sans" pitchFamily="34" charset="-122"/>
                <a:cs typeface="IBM Plex Sans" pitchFamily="34" charset="-120"/>
              </a:rPr>
              <a:t>ECONOMY-FOCUSED PLAYER</a:t>
            </a:r>
            <a:endParaRPr lang="en-US" sz="1800" dirty="0"/>
          </a:p>
        </p:txBody>
      </p:sp>
      <p:sp>
        <p:nvSpPr>
          <p:cNvPr id="30" name="Text 28"/>
          <p:cNvSpPr/>
          <p:nvPr/>
        </p:nvSpPr>
        <p:spPr>
          <a:xfrm>
            <a:off x="6553068" y="8643938"/>
            <a:ext cx="5337150" cy="732301"/>
          </a:xfrm>
          <a:prstGeom prst="rect">
            <a:avLst/>
          </a:prstGeom>
          <a:noFill/>
          <a:ln/>
        </p:spPr>
        <p:txBody>
          <a:bodyPr wrap="square" lIns="25400" tIns="25400" rIns="25400" bIns="25400" rtlCol="0" anchor="t">
            <a:normAutofit/>
          </a:bodyPr>
          <a:lstStyle/>
          <a:p>
            <a:pPr algn="l" indent="0" marL="0">
              <a:lnSpc>
                <a:spcPct val="102516"/>
              </a:lnSpc>
              <a:buNone/>
            </a:pPr>
            <a:r>
              <a:rPr lang="en-US" sz="2025" dirty="0">
                <a:solidFill>
                  <a:srgbClr val="9B988F"/>
                </a:solidFill>
                <a:latin typeface="IBM Plex Sans" pitchFamily="34" charset="0"/>
                <a:ea typeface="IBM Plex Sans" pitchFamily="34" charset="-122"/>
                <a:cs typeface="IBM Plex Sans" pitchFamily="34" charset="-120"/>
              </a:rPr>
              <a:t>Wants to compare current opportunities without switching between multiple tools.</a:t>
            </a:r>
            <a:endParaRPr lang="en-US" sz="2025" dirty="0"/>
          </a:p>
        </p:txBody>
      </p:sp>
      <p:sp>
        <p:nvSpPr>
          <p:cNvPr id="31" name="Text 29"/>
          <p:cNvSpPr/>
          <p:nvPr/>
        </p:nvSpPr>
        <p:spPr>
          <a:xfrm>
            <a:off x="12153801" y="8233338"/>
            <a:ext cx="5699688" cy="334433"/>
          </a:xfrm>
          <a:prstGeom prst="rect">
            <a:avLst/>
          </a:prstGeom>
          <a:noFill/>
          <a:ln/>
        </p:spPr>
        <p:txBody>
          <a:bodyPr wrap="square" lIns="25400" tIns="25400" rIns="25400" bIns="25400" rtlCol="0" anchor="t">
            <a:normAutofit/>
          </a:bodyPr>
          <a:lstStyle/>
          <a:p>
            <a:pPr algn="l" indent="0" marL="0">
              <a:buNone/>
            </a:pPr>
            <a:r>
              <a:rPr lang="en-US" sz="1800" spc="288" kern="0" dirty="0">
                <a:solidFill>
                  <a:srgbClr val="E8B44A"/>
                </a:solidFill>
                <a:latin typeface="IBM Plex Sans" pitchFamily="34" charset="0"/>
                <a:ea typeface="IBM Plex Sans" pitchFamily="34" charset="-122"/>
                <a:cs typeface="IBM Plex Sans" pitchFamily="34" charset="-120"/>
              </a:rPr>
              <a:t>EXPERIENCED PLAYER</a:t>
            </a:r>
            <a:endParaRPr lang="en-US" sz="1800" dirty="0"/>
          </a:p>
        </p:txBody>
      </p:sp>
      <p:sp>
        <p:nvSpPr>
          <p:cNvPr id="32" name="Text 30"/>
          <p:cNvSpPr/>
          <p:nvPr/>
        </p:nvSpPr>
        <p:spPr>
          <a:xfrm>
            <a:off x="12153801" y="8643938"/>
            <a:ext cx="5336980" cy="732301"/>
          </a:xfrm>
          <a:prstGeom prst="rect">
            <a:avLst/>
          </a:prstGeom>
          <a:noFill/>
          <a:ln/>
        </p:spPr>
        <p:txBody>
          <a:bodyPr wrap="square" lIns="25400" tIns="25400" rIns="25400" bIns="25400" rtlCol="0" anchor="t">
            <a:normAutofit/>
          </a:bodyPr>
          <a:lstStyle/>
          <a:p>
            <a:pPr algn="l" indent="0" marL="0">
              <a:lnSpc>
                <a:spcPct val="102516"/>
              </a:lnSpc>
              <a:buNone/>
            </a:pPr>
            <a:r>
              <a:rPr lang="en-US" sz="2025" dirty="0">
                <a:solidFill>
                  <a:srgbClr val="9B988F"/>
                </a:solidFill>
                <a:latin typeface="IBM Plex Sans" pitchFamily="34" charset="0"/>
                <a:ea typeface="IBM Plex Sans" pitchFamily="34" charset="-122"/>
                <a:cs typeface="IBM Plex Sans" pitchFamily="34" charset="-120"/>
              </a:rPr>
              <a:t>Wants faster verification, current evidence and transparent assumptions.</a:t>
            </a:r>
            <a:endParaRPr lang="en-US" sz="2025"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E0F12"/>
        </a:solidFill>
      </p:bgPr>
    </p:bg>
    <p:spTree>
      <p:nvGrpSpPr>
        <p:cNvPr id="1" name=""/>
        <p:cNvGrpSpPr/>
        <p:nvPr/>
      </p:nvGrpSpPr>
      <p:grpSpPr>
        <a:xfrm>
          <a:off x="0" y="0"/>
          <a:ext cx="0" cy="0"/>
          <a:chOff x="0" y="0"/>
          <a:chExt cx="0" cy="0"/>
        </a:xfrm>
      </p:grpSpPr>
      <p:sp>
        <p:nvSpPr>
          <p:cNvPr id="2" name="Text 0"/>
          <p:cNvSpPr/>
          <p:nvPr/>
        </p:nvSpPr>
        <p:spPr>
          <a:xfrm>
            <a:off x="952500" y="838068"/>
            <a:ext cx="18021301" cy="334433"/>
          </a:xfrm>
          <a:prstGeom prst="rect">
            <a:avLst/>
          </a:prstGeom>
          <a:noFill/>
          <a:ln/>
        </p:spPr>
        <p:txBody>
          <a:bodyPr wrap="square" lIns="25400" tIns="25400" rIns="25400" bIns="25400" rtlCol="0" anchor="t">
            <a:normAutofit/>
          </a:bodyPr>
          <a:lstStyle/>
          <a:p>
            <a:pPr algn="l" indent="0" marL="0">
              <a:buNone/>
            </a:pPr>
            <a:r>
              <a:rPr lang="en-US" sz="1800" spc="360" kern="0" dirty="0">
                <a:solidFill>
                  <a:srgbClr val="A9843A"/>
                </a:solidFill>
                <a:latin typeface="IBM Plex Sans" pitchFamily="34" charset="0"/>
                <a:ea typeface="IBM Plex Sans" pitchFamily="34" charset="-122"/>
                <a:cs typeface="IBM Plex Sans" pitchFamily="34" charset="-120"/>
              </a:rPr>
              <a:t>THE PRODUCT</a:t>
            </a:r>
            <a:endParaRPr lang="en-US" sz="1800" dirty="0"/>
          </a:p>
        </p:txBody>
      </p:sp>
      <p:sp>
        <p:nvSpPr>
          <p:cNvPr id="3" name="Text 1"/>
          <p:cNvSpPr/>
          <p:nvPr/>
        </p:nvSpPr>
        <p:spPr>
          <a:xfrm>
            <a:off x="952500" y="1286702"/>
            <a:ext cx="18021301" cy="708488"/>
          </a:xfrm>
          <a:prstGeom prst="rect">
            <a:avLst/>
          </a:prstGeom>
          <a:noFill/>
          <a:ln/>
        </p:spPr>
        <p:txBody>
          <a:bodyPr wrap="square" lIns="25400" tIns="25400" rIns="25400" bIns="25400" rtlCol="0" anchor="t">
            <a:normAutofit/>
          </a:bodyPr>
          <a:lstStyle/>
          <a:p>
            <a:pPr algn="l" indent="0" marL="0">
              <a:lnSpc>
                <a:spcPct val="72000"/>
              </a:lnSpc>
              <a:buNone/>
            </a:pPr>
            <a:r>
              <a:rPr lang="en-US" sz="4800" b="1" dirty="0">
                <a:solidFill>
                  <a:srgbClr val="F4F1EA"/>
                </a:solidFill>
                <a:latin typeface="Spectral" pitchFamily="34" charset="0"/>
                <a:ea typeface="Spectral" pitchFamily="34" charset="-122"/>
                <a:cs typeface="Spectral" pitchFamily="34" charset="-120"/>
              </a:rPr>
              <a:t>One workflow, four pillars</a:t>
            </a:r>
            <a:endParaRPr lang="en-US" sz="4800" dirty="0"/>
          </a:p>
        </p:txBody>
      </p:sp>
      <p:sp>
        <p:nvSpPr>
          <p:cNvPr id="4" name="Text 2"/>
          <p:cNvSpPr/>
          <p:nvPr/>
        </p:nvSpPr>
        <p:spPr>
          <a:xfrm>
            <a:off x="952500" y="2109391"/>
            <a:ext cx="14668501" cy="434148"/>
          </a:xfrm>
          <a:prstGeom prst="rect">
            <a:avLst/>
          </a:prstGeom>
          <a:noFill/>
          <a:ln/>
        </p:spPr>
        <p:txBody>
          <a:bodyPr wrap="square" lIns="25400" tIns="25400" rIns="25400" bIns="25400" rtlCol="0" anchor="t">
            <a:normAutofit/>
          </a:bodyPr>
          <a:lstStyle/>
          <a:p>
            <a:pPr algn="l" indent="0" marL="0">
              <a:lnSpc>
                <a:spcPct val="98526"/>
              </a:lnSpc>
              <a:buNone/>
            </a:pPr>
            <a:r>
              <a:rPr lang="en-US" sz="2400" dirty="0">
                <a:solidFill>
                  <a:srgbClr val="F4F1EA"/>
                </a:solidFill>
                <a:latin typeface="IBM Plex Sans" pitchFamily="34" charset="0"/>
                <a:ea typeface="IBM Plex Sans" pitchFamily="34" charset="-122"/>
                <a:cs typeface="IBM Plex Sans" pitchFamily="34" charset="-120"/>
              </a:rPr>
              <a:t>Ranked opportunities, modeled craft economics and sourced explanations — in one workflow.</a:t>
            </a:r>
            <a:endParaRPr lang="en-US" sz="2400" dirty="0"/>
          </a:p>
        </p:txBody>
      </p:sp>
      <p:sp>
        <p:nvSpPr>
          <p:cNvPr id="5" name="Shape 3"/>
          <p:cNvSpPr/>
          <p:nvPr/>
        </p:nvSpPr>
        <p:spPr>
          <a:xfrm>
            <a:off x="952500" y="2962507"/>
            <a:ext cx="3169874" cy="994833"/>
          </a:xfrm>
          <a:prstGeom prst="roundRect">
            <a:avLst>
              <a:gd name="adj" fmla="val 3830"/>
            </a:avLst>
          </a:prstGeom>
          <a:solidFill>
            <a:srgbClr val="1A1C21"/>
          </a:solidFill>
          <a:ln w="10583">
            <a:solidFill>
              <a:srgbClr val="2A2E35"/>
            </a:solidFill>
            <a:prstDash val="solid"/>
          </a:ln>
        </p:spPr>
      </p:sp>
      <p:sp>
        <p:nvSpPr>
          <p:cNvPr id="6" name="Text 4"/>
          <p:cNvSpPr/>
          <p:nvPr/>
        </p:nvSpPr>
        <p:spPr>
          <a:xfrm>
            <a:off x="915535" y="3258840"/>
            <a:ext cx="3243804" cy="440267"/>
          </a:xfrm>
          <a:prstGeom prst="rect">
            <a:avLst/>
          </a:prstGeom>
          <a:noFill/>
          <a:ln/>
        </p:spPr>
        <p:txBody>
          <a:bodyPr wrap="square" lIns="25400" tIns="25400" rIns="25400" bIns="25400" rtlCol="0" anchor="t">
            <a:normAutofit/>
          </a:bodyPr>
          <a:lstStyle/>
          <a:p>
            <a:pPr algn="ctr" indent="0" marL="0">
              <a:buNone/>
            </a:pPr>
            <a:r>
              <a:rPr lang="en-US" sz="2400" b="1" dirty="0">
                <a:solidFill>
                  <a:srgbClr val="F4F1EA"/>
                </a:solidFill>
                <a:latin typeface="IBM Plex Sans" pitchFamily="34" charset="0"/>
                <a:ea typeface="IBM Plex Sans" pitchFamily="34" charset="-122"/>
                <a:cs typeface="IBM Plex Sans" pitchFamily="34" charset="-120"/>
              </a:rPr>
              <a:t>Observe</a:t>
            </a:r>
            <a:endParaRPr lang="en-US" sz="2400" dirty="0"/>
          </a:p>
        </p:txBody>
      </p:sp>
      <p:sp>
        <p:nvSpPr>
          <p:cNvPr id="7" name="Shape 5"/>
          <p:cNvSpPr/>
          <p:nvPr/>
        </p:nvSpPr>
        <p:spPr>
          <a:xfrm>
            <a:off x="4255658" y="2962507"/>
            <a:ext cx="3170039" cy="994833"/>
          </a:xfrm>
          <a:prstGeom prst="roundRect">
            <a:avLst>
              <a:gd name="adj" fmla="val 3830"/>
            </a:avLst>
          </a:prstGeom>
          <a:solidFill>
            <a:srgbClr val="1A1C21"/>
          </a:solidFill>
          <a:ln w="10583">
            <a:solidFill>
              <a:srgbClr val="2A2E35"/>
            </a:solidFill>
            <a:prstDash val="solid"/>
          </a:ln>
        </p:spPr>
      </p:sp>
      <p:sp>
        <p:nvSpPr>
          <p:cNvPr id="8" name="Text 6"/>
          <p:cNvSpPr/>
          <p:nvPr/>
        </p:nvSpPr>
        <p:spPr>
          <a:xfrm>
            <a:off x="4218690" y="3258840"/>
            <a:ext cx="3243974" cy="440267"/>
          </a:xfrm>
          <a:prstGeom prst="rect">
            <a:avLst/>
          </a:prstGeom>
          <a:noFill/>
          <a:ln/>
        </p:spPr>
        <p:txBody>
          <a:bodyPr wrap="square" lIns="25400" tIns="25400" rIns="25400" bIns="25400" rtlCol="0" anchor="t">
            <a:normAutofit/>
          </a:bodyPr>
          <a:lstStyle/>
          <a:p>
            <a:pPr algn="ctr" indent="0" marL="0">
              <a:buNone/>
            </a:pPr>
            <a:r>
              <a:rPr lang="en-US" sz="2400" b="1" dirty="0">
                <a:solidFill>
                  <a:srgbClr val="F4F1EA"/>
                </a:solidFill>
                <a:latin typeface="IBM Plex Sans" pitchFamily="34" charset="0"/>
                <a:ea typeface="IBM Plex Sans" pitchFamily="34" charset="-122"/>
                <a:cs typeface="IBM Plex Sans" pitchFamily="34" charset="-120"/>
              </a:rPr>
              <a:t>Compare</a:t>
            </a:r>
            <a:endParaRPr lang="en-US" sz="2400" dirty="0"/>
          </a:p>
        </p:txBody>
      </p:sp>
      <p:sp>
        <p:nvSpPr>
          <p:cNvPr id="9" name="Shape 7"/>
          <p:cNvSpPr/>
          <p:nvPr/>
        </p:nvSpPr>
        <p:spPr>
          <a:xfrm>
            <a:off x="7558981" y="2962507"/>
            <a:ext cx="3169874" cy="994833"/>
          </a:xfrm>
          <a:prstGeom prst="roundRect">
            <a:avLst>
              <a:gd name="adj" fmla="val 3830"/>
            </a:avLst>
          </a:prstGeom>
          <a:solidFill>
            <a:srgbClr val="1A1C21"/>
          </a:solidFill>
          <a:ln w="10583">
            <a:solidFill>
              <a:srgbClr val="2A2E35"/>
            </a:solidFill>
            <a:prstDash val="solid"/>
          </a:ln>
        </p:spPr>
      </p:sp>
      <p:sp>
        <p:nvSpPr>
          <p:cNvPr id="10" name="Text 8"/>
          <p:cNvSpPr/>
          <p:nvPr/>
        </p:nvSpPr>
        <p:spPr>
          <a:xfrm>
            <a:off x="7522016" y="3258840"/>
            <a:ext cx="3243804" cy="440267"/>
          </a:xfrm>
          <a:prstGeom prst="rect">
            <a:avLst/>
          </a:prstGeom>
          <a:noFill/>
          <a:ln/>
        </p:spPr>
        <p:txBody>
          <a:bodyPr wrap="square" lIns="25400" tIns="25400" rIns="25400" bIns="25400" rtlCol="0" anchor="t">
            <a:normAutofit/>
          </a:bodyPr>
          <a:lstStyle/>
          <a:p>
            <a:pPr algn="ctr" indent="0" marL="0">
              <a:buNone/>
            </a:pPr>
            <a:r>
              <a:rPr lang="en-US" sz="2400" b="1" dirty="0">
                <a:solidFill>
                  <a:srgbClr val="F4F1EA"/>
                </a:solidFill>
                <a:latin typeface="IBM Plex Sans" pitchFamily="34" charset="0"/>
                <a:ea typeface="IBM Plex Sans" pitchFamily="34" charset="-122"/>
                <a:cs typeface="IBM Plex Sans" pitchFamily="34" charset="-120"/>
              </a:rPr>
              <a:t>Ask</a:t>
            </a:r>
            <a:endParaRPr lang="en-US" sz="2400" dirty="0"/>
          </a:p>
        </p:txBody>
      </p:sp>
      <p:sp>
        <p:nvSpPr>
          <p:cNvPr id="11" name="Shape 9"/>
          <p:cNvSpPr/>
          <p:nvPr/>
        </p:nvSpPr>
        <p:spPr>
          <a:xfrm>
            <a:off x="10862138" y="2962507"/>
            <a:ext cx="3170039" cy="994833"/>
          </a:xfrm>
          <a:prstGeom prst="roundRect">
            <a:avLst>
              <a:gd name="adj" fmla="val 3830"/>
            </a:avLst>
          </a:prstGeom>
          <a:solidFill>
            <a:srgbClr val="1A1C21"/>
          </a:solidFill>
          <a:ln w="10583">
            <a:solidFill>
              <a:srgbClr val="2A2E35"/>
            </a:solidFill>
            <a:prstDash val="solid"/>
          </a:ln>
        </p:spPr>
      </p:sp>
      <p:sp>
        <p:nvSpPr>
          <p:cNvPr id="12" name="Text 10"/>
          <p:cNvSpPr/>
          <p:nvPr/>
        </p:nvSpPr>
        <p:spPr>
          <a:xfrm>
            <a:off x="10825171" y="3258840"/>
            <a:ext cx="3243974" cy="440267"/>
          </a:xfrm>
          <a:prstGeom prst="rect">
            <a:avLst/>
          </a:prstGeom>
          <a:noFill/>
          <a:ln/>
        </p:spPr>
        <p:txBody>
          <a:bodyPr wrap="square" lIns="25400" tIns="25400" rIns="25400" bIns="25400" rtlCol="0" anchor="t">
            <a:normAutofit/>
          </a:bodyPr>
          <a:lstStyle/>
          <a:p>
            <a:pPr algn="ctr" indent="0" marL="0">
              <a:buNone/>
            </a:pPr>
            <a:r>
              <a:rPr lang="en-US" sz="2400" b="1" dirty="0">
                <a:solidFill>
                  <a:srgbClr val="5CC8DD"/>
                </a:solidFill>
                <a:latin typeface="IBM Plex Sans" pitchFamily="34" charset="0"/>
                <a:ea typeface="IBM Plex Sans" pitchFamily="34" charset="-122"/>
                <a:cs typeface="IBM Plex Sans" pitchFamily="34" charset="-120"/>
              </a:rPr>
              <a:t>Verify</a:t>
            </a:r>
            <a:endParaRPr lang="en-US" sz="2400" dirty="0"/>
          </a:p>
        </p:txBody>
      </p:sp>
      <p:sp>
        <p:nvSpPr>
          <p:cNvPr id="13" name="Shape 11"/>
          <p:cNvSpPr/>
          <p:nvPr/>
        </p:nvSpPr>
        <p:spPr>
          <a:xfrm>
            <a:off x="14165462" y="2962507"/>
            <a:ext cx="3170039" cy="994833"/>
          </a:xfrm>
          <a:prstGeom prst="roundRect">
            <a:avLst>
              <a:gd name="adj" fmla="val 3830"/>
            </a:avLst>
          </a:prstGeom>
          <a:solidFill>
            <a:srgbClr val="E8B44A"/>
          </a:solidFill>
          <a:ln w="10583">
            <a:solidFill>
              <a:srgbClr val="E8B44A"/>
            </a:solidFill>
            <a:prstDash val="solid"/>
          </a:ln>
        </p:spPr>
      </p:sp>
      <p:sp>
        <p:nvSpPr>
          <p:cNvPr id="14" name="Text 12"/>
          <p:cNvSpPr/>
          <p:nvPr/>
        </p:nvSpPr>
        <p:spPr>
          <a:xfrm>
            <a:off x="14128495" y="3258840"/>
            <a:ext cx="3243974" cy="440267"/>
          </a:xfrm>
          <a:prstGeom prst="rect">
            <a:avLst/>
          </a:prstGeom>
          <a:noFill/>
          <a:ln/>
        </p:spPr>
        <p:txBody>
          <a:bodyPr wrap="square" lIns="25400" tIns="25400" rIns="25400" bIns="25400" rtlCol="0" anchor="t">
            <a:normAutofit/>
          </a:bodyPr>
          <a:lstStyle/>
          <a:p>
            <a:pPr algn="ctr" indent="0" marL="0">
              <a:buNone/>
            </a:pPr>
            <a:r>
              <a:rPr lang="en-US" sz="2400" b="1" dirty="0">
                <a:solidFill>
                  <a:srgbClr val="14100A"/>
                </a:solidFill>
                <a:latin typeface="IBM Plex Sans" pitchFamily="34" charset="0"/>
                <a:ea typeface="IBM Plex Sans" pitchFamily="34" charset="-122"/>
                <a:cs typeface="IBM Plex Sans" pitchFamily="34" charset="-120"/>
              </a:rPr>
              <a:t>Decide</a:t>
            </a:r>
            <a:endParaRPr lang="en-US" sz="2400" dirty="0"/>
          </a:p>
        </p:txBody>
      </p:sp>
      <p:sp>
        <p:nvSpPr>
          <p:cNvPr id="15" name="Shape 13"/>
          <p:cNvSpPr/>
          <p:nvPr/>
        </p:nvSpPr>
        <p:spPr>
          <a:xfrm>
            <a:off x="952500" y="4414408"/>
            <a:ext cx="3910046" cy="3091656"/>
          </a:xfrm>
          <a:prstGeom prst="roundRect">
            <a:avLst>
              <a:gd name="adj" fmla="val 1849"/>
            </a:avLst>
          </a:prstGeom>
          <a:solidFill>
            <a:srgbClr val="171A1F"/>
          </a:solidFill>
          <a:ln/>
        </p:spPr>
      </p:sp>
      <p:sp>
        <p:nvSpPr>
          <p:cNvPr id="16" name="Shape 14"/>
          <p:cNvSpPr/>
          <p:nvPr/>
        </p:nvSpPr>
        <p:spPr>
          <a:xfrm>
            <a:off x="952500" y="7495481"/>
            <a:ext cx="3910046" cy="10583"/>
          </a:xfrm>
          <a:prstGeom prst="rect">
            <a:avLst/>
          </a:prstGeom>
          <a:solidFill>
            <a:srgbClr val="2A2E35"/>
          </a:solidFill>
          <a:ln/>
        </p:spPr>
      </p:sp>
      <p:sp>
        <p:nvSpPr>
          <p:cNvPr id="17" name="Shape 15"/>
          <p:cNvSpPr/>
          <p:nvPr/>
        </p:nvSpPr>
        <p:spPr>
          <a:xfrm>
            <a:off x="952500" y="4414408"/>
            <a:ext cx="3910046" cy="21167"/>
          </a:xfrm>
          <a:prstGeom prst="rect">
            <a:avLst/>
          </a:prstGeom>
          <a:solidFill>
            <a:srgbClr val="E8B44A"/>
          </a:solidFill>
          <a:ln/>
        </p:spPr>
      </p:sp>
      <p:sp>
        <p:nvSpPr>
          <p:cNvPr id="18" name="Shape 16"/>
          <p:cNvSpPr/>
          <p:nvPr/>
        </p:nvSpPr>
        <p:spPr>
          <a:xfrm>
            <a:off x="952500" y="4414408"/>
            <a:ext cx="10583" cy="3091656"/>
          </a:xfrm>
          <a:prstGeom prst="rect">
            <a:avLst/>
          </a:prstGeom>
          <a:solidFill>
            <a:srgbClr val="2A2E35"/>
          </a:solidFill>
          <a:ln/>
        </p:spPr>
      </p:sp>
      <p:sp>
        <p:nvSpPr>
          <p:cNvPr id="19" name="Shape 17"/>
          <p:cNvSpPr/>
          <p:nvPr/>
        </p:nvSpPr>
        <p:spPr>
          <a:xfrm>
            <a:off x="4851962" y="4414408"/>
            <a:ext cx="10583" cy="3091656"/>
          </a:xfrm>
          <a:prstGeom prst="rect">
            <a:avLst/>
          </a:prstGeom>
          <a:solidFill>
            <a:srgbClr val="2A2E35"/>
          </a:solidFill>
          <a:ln/>
        </p:spPr>
      </p:sp>
      <p:sp>
        <p:nvSpPr>
          <p:cNvPr id="20" name="Text 18"/>
          <p:cNvSpPr/>
          <p:nvPr/>
        </p:nvSpPr>
        <p:spPr>
          <a:xfrm>
            <a:off x="1267850" y="4816574"/>
            <a:ext cx="3607280" cy="620183"/>
          </a:xfrm>
          <a:prstGeom prst="rect">
            <a:avLst/>
          </a:prstGeom>
          <a:noFill/>
          <a:ln/>
        </p:spPr>
        <p:txBody>
          <a:bodyPr wrap="square" lIns="25400" tIns="25400" rIns="25400" bIns="25400" rtlCol="0" anchor="t">
            <a:normAutofit/>
          </a:bodyPr>
          <a:lstStyle/>
          <a:p>
            <a:pPr algn="l" indent="0" marL="0">
              <a:buNone/>
            </a:pPr>
            <a:r>
              <a:rPr lang="en-US" sz="3000" dirty="0">
                <a:solidFill>
                  <a:srgbClr val="E8B44A"/>
                </a:solidFill>
                <a:latin typeface="Spectral" pitchFamily="34" charset="0"/>
                <a:ea typeface="Spectral" pitchFamily="34" charset="-122"/>
                <a:cs typeface="Spectral" pitchFamily="34" charset="-120"/>
              </a:rPr>
              <a:t>Market</a:t>
            </a:r>
            <a:endParaRPr lang="en-US" sz="3000" dirty="0"/>
          </a:p>
        </p:txBody>
      </p:sp>
      <p:sp>
        <p:nvSpPr>
          <p:cNvPr id="21" name="Text 19"/>
          <p:cNvSpPr/>
          <p:nvPr/>
        </p:nvSpPr>
        <p:spPr>
          <a:xfrm>
            <a:off x="1267850" y="5589158"/>
            <a:ext cx="3377726" cy="1118096"/>
          </a:xfrm>
          <a:prstGeom prst="rect">
            <a:avLst/>
          </a:prstGeom>
          <a:noFill/>
          <a:ln/>
        </p:spPr>
        <p:txBody>
          <a:bodyPr wrap="square" lIns="25400" tIns="25400" rIns="25400" bIns="25400" rtlCol="0" anchor="t">
            <a:normAutofit/>
          </a:bodyPr>
          <a:lstStyle/>
          <a:p>
            <a:pPr algn="l" indent="0" marL="0">
              <a:lnSpc>
                <a:spcPct val="106312"/>
              </a:lnSpc>
              <a:buNone/>
            </a:pPr>
            <a:r>
              <a:rPr lang="en-US" sz="2025" dirty="0">
                <a:solidFill>
                  <a:srgbClr val="9B988F"/>
                </a:solidFill>
                <a:latin typeface="IBM Plex Sans" pitchFamily="34" charset="0"/>
                <a:ea typeface="IBM Plex Sans" pitchFamily="34" charset="-122"/>
                <a:cs typeface="IBM Plex Sans" pitchFamily="34" charset="-120"/>
              </a:rPr>
              <a:t>Conversion, observations and Top Flip heuristics with price history</a:t>
            </a:r>
            <a:endParaRPr lang="en-US" sz="2025" dirty="0"/>
          </a:p>
        </p:txBody>
      </p:sp>
      <p:sp>
        <p:nvSpPr>
          <p:cNvPr id="22" name="Shape 20"/>
          <p:cNvSpPr/>
          <p:nvPr/>
        </p:nvSpPr>
        <p:spPr>
          <a:xfrm>
            <a:off x="5110097" y="4414408"/>
            <a:ext cx="3910046" cy="3091656"/>
          </a:xfrm>
          <a:prstGeom prst="roundRect">
            <a:avLst>
              <a:gd name="adj" fmla="val 1849"/>
            </a:avLst>
          </a:prstGeom>
          <a:solidFill>
            <a:srgbClr val="171A1F"/>
          </a:solidFill>
          <a:ln/>
        </p:spPr>
      </p:sp>
      <p:sp>
        <p:nvSpPr>
          <p:cNvPr id="23" name="Shape 21"/>
          <p:cNvSpPr/>
          <p:nvPr/>
        </p:nvSpPr>
        <p:spPr>
          <a:xfrm>
            <a:off x="5110097" y="7495481"/>
            <a:ext cx="3910046" cy="10583"/>
          </a:xfrm>
          <a:prstGeom prst="rect">
            <a:avLst/>
          </a:prstGeom>
          <a:solidFill>
            <a:srgbClr val="2A2E35"/>
          </a:solidFill>
          <a:ln/>
        </p:spPr>
      </p:sp>
      <p:sp>
        <p:nvSpPr>
          <p:cNvPr id="24" name="Shape 22"/>
          <p:cNvSpPr/>
          <p:nvPr/>
        </p:nvSpPr>
        <p:spPr>
          <a:xfrm>
            <a:off x="5110097" y="4414408"/>
            <a:ext cx="3910046" cy="21167"/>
          </a:xfrm>
          <a:prstGeom prst="rect">
            <a:avLst/>
          </a:prstGeom>
          <a:solidFill>
            <a:srgbClr val="E8B44A"/>
          </a:solidFill>
          <a:ln/>
        </p:spPr>
      </p:sp>
      <p:sp>
        <p:nvSpPr>
          <p:cNvPr id="25" name="Shape 23"/>
          <p:cNvSpPr/>
          <p:nvPr/>
        </p:nvSpPr>
        <p:spPr>
          <a:xfrm>
            <a:off x="5110097" y="4414408"/>
            <a:ext cx="10583" cy="3091656"/>
          </a:xfrm>
          <a:prstGeom prst="rect">
            <a:avLst/>
          </a:prstGeom>
          <a:solidFill>
            <a:srgbClr val="2A2E35"/>
          </a:solidFill>
          <a:ln/>
        </p:spPr>
      </p:sp>
      <p:sp>
        <p:nvSpPr>
          <p:cNvPr id="26" name="Shape 24"/>
          <p:cNvSpPr/>
          <p:nvPr/>
        </p:nvSpPr>
        <p:spPr>
          <a:xfrm>
            <a:off x="9009559" y="4414408"/>
            <a:ext cx="10583" cy="3091656"/>
          </a:xfrm>
          <a:prstGeom prst="rect">
            <a:avLst/>
          </a:prstGeom>
          <a:solidFill>
            <a:srgbClr val="2A2E35"/>
          </a:solidFill>
          <a:ln/>
        </p:spPr>
      </p:sp>
      <p:sp>
        <p:nvSpPr>
          <p:cNvPr id="27" name="Text 25"/>
          <p:cNvSpPr/>
          <p:nvPr/>
        </p:nvSpPr>
        <p:spPr>
          <a:xfrm>
            <a:off x="5425447" y="4816574"/>
            <a:ext cx="3607280" cy="620183"/>
          </a:xfrm>
          <a:prstGeom prst="rect">
            <a:avLst/>
          </a:prstGeom>
          <a:noFill/>
          <a:ln/>
        </p:spPr>
        <p:txBody>
          <a:bodyPr wrap="square" lIns="25400" tIns="25400" rIns="25400" bIns="25400" rtlCol="0" anchor="t">
            <a:normAutofit/>
          </a:bodyPr>
          <a:lstStyle/>
          <a:p>
            <a:pPr algn="l" indent="0" marL="0">
              <a:buNone/>
            </a:pPr>
            <a:r>
              <a:rPr lang="en-US" sz="3000" dirty="0">
                <a:solidFill>
                  <a:srgbClr val="E8B44A"/>
                </a:solidFill>
                <a:latin typeface="Spectral" pitchFamily="34" charset="0"/>
                <a:ea typeface="Spectral" pitchFamily="34" charset="-122"/>
                <a:cs typeface="Spectral" pitchFamily="34" charset="-120"/>
              </a:rPr>
              <a:t>Farming</a:t>
            </a:r>
            <a:endParaRPr lang="en-US" sz="3000" dirty="0"/>
          </a:p>
        </p:txBody>
      </p:sp>
      <p:sp>
        <p:nvSpPr>
          <p:cNvPr id="28" name="Text 26"/>
          <p:cNvSpPr/>
          <p:nvPr/>
        </p:nvSpPr>
        <p:spPr>
          <a:xfrm>
            <a:off x="5425447" y="5589158"/>
            <a:ext cx="3377726" cy="758097"/>
          </a:xfrm>
          <a:prstGeom prst="rect">
            <a:avLst/>
          </a:prstGeom>
          <a:noFill/>
          <a:ln/>
        </p:spPr>
        <p:txBody>
          <a:bodyPr wrap="square" lIns="25400" tIns="25400" rIns="25400" bIns="25400" rtlCol="0" anchor="t">
            <a:normAutofit/>
          </a:bodyPr>
          <a:lstStyle/>
          <a:p>
            <a:pPr algn="l" indent="0" marL="0">
              <a:lnSpc>
                <a:spcPct val="106312"/>
              </a:lnSpc>
              <a:buNone/>
            </a:pPr>
            <a:r>
              <a:rPr lang="en-US" sz="2025" dirty="0">
                <a:solidFill>
                  <a:srgbClr val="9B988F"/>
                </a:solidFill>
                <a:latin typeface="IBM Plex Sans" pitchFamily="34" charset="0"/>
                <a:ea typeface="IBM Plex Sans" pitchFamily="34" charset="-122"/>
                <a:cs typeface="IBM Plex Sans" pitchFamily="34" charset="-120"/>
              </a:rPr>
              <a:t>FarmAdvisor ranks basket momentum and liquidity</a:t>
            </a:r>
            <a:endParaRPr lang="en-US" sz="2025" dirty="0"/>
          </a:p>
        </p:txBody>
      </p:sp>
      <p:sp>
        <p:nvSpPr>
          <p:cNvPr id="29" name="Shape 27"/>
          <p:cNvSpPr/>
          <p:nvPr/>
        </p:nvSpPr>
        <p:spPr>
          <a:xfrm>
            <a:off x="9267693" y="4414408"/>
            <a:ext cx="3910046" cy="3091656"/>
          </a:xfrm>
          <a:prstGeom prst="roundRect">
            <a:avLst>
              <a:gd name="adj" fmla="val 1849"/>
            </a:avLst>
          </a:prstGeom>
          <a:solidFill>
            <a:srgbClr val="171A1F"/>
          </a:solidFill>
          <a:ln/>
        </p:spPr>
      </p:sp>
      <p:sp>
        <p:nvSpPr>
          <p:cNvPr id="30" name="Shape 28"/>
          <p:cNvSpPr/>
          <p:nvPr/>
        </p:nvSpPr>
        <p:spPr>
          <a:xfrm>
            <a:off x="9267693" y="7495481"/>
            <a:ext cx="3910046" cy="10583"/>
          </a:xfrm>
          <a:prstGeom prst="rect">
            <a:avLst/>
          </a:prstGeom>
          <a:solidFill>
            <a:srgbClr val="2A2E35"/>
          </a:solidFill>
          <a:ln/>
        </p:spPr>
      </p:sp>
      <p:sp>
        <p:nvSpPr>
          <p:cNvPr id="31" name="Shape 29"/>
          <p:cNvSpPr/>
          <p:nvPr/>
        </p:nvSpPr>
        <p:spPr>
          <a:xfrm>
            <a:off x="9267693" y="4414408"/>
            <a:ext cx="3910046" cy="21167"/>
          </a:xfrm>
          <a:prstGeom prst="rect">
            <a:avLst/>
          </a:prstGeom>
          <a:solidFill>
            <a:srgbClr val="E8B44A"/>
          </a:solidFill>
          <a:ln/>
        </p:spPr>
      </p:sp>
      <p:sp>
        <p:nvSpPr>
          <p:cNvPr id="32" name="Shape 30"/>
          <p:cNvSpPr/>
          <p:nvPr/>
        </p:nvSpPr>
        <p:spPr>
          <a:xfrm>
            <a:off x="9267693" y="4414408"/>
            <a:ext cx="10583" cy="3091656"/>
          </a:xfrm>
          <a:prstGeom prst="rect">
            <a:avLst/>
          </a:prstGeom>
          <a:solidFill>
            <a:srgbClr val="2A2E35"/>
          </a:solidFill>
          <a:ln/>
        </p:spPr>
      </p:sp>
      <p:sp>
        <p:nvSpPr>
          <p:cNvPr id="33" name="Shape 31"/>
          <p:cNvSpPr/>
          <p:nvPr/>
        </p:nvSpPr>
        <p:spPr>
          <a:xfrm>
            <a:off x="13167155" y="4414408"/>
            <a:ext cx="10583" cy="3091656"/>
          </a:xfrm>
          <a:prstGeom prst="rect">
            <a:avLst/>
          </a:prstGeom>
          <a:solidFill>
            <a:srgbClr val="2A2E35"/>
          </a:solidFill>
          <a:ln/>
        </p:spPr>
      </p:sp>
      <p:sp>
        <p:nvSpPr>
          <p:cNvPr id="34" name="Text 32"/>
          <p:cNvSpPr/>
          <p:nvPr/>
        </p:nvSpPr>
        <p:spPr>
          <a:xfrm>
            <a:off x="9583044" y="4816574"/>
            <a:ext cx="3607280" cy="620183"/>
          </a:xfrm>
          <a:prstGeom prst="rect">
            <a:avLst/>
          </a:prstGeom>
          <a:noFill/>
          <a:ln/>
        </p:spPr>
        <p:txBody>
          <a:bodyPr wrap="square" lIns="25400" tIns="25400" rIns="25400" bIns="25400" rtlCol="0" anchor="t">
            <a:normAutofit/>
          </a:bodyPr>
          <a:lstStyle/>
          <a:p>
            <a:pPr algn="l" indent="0" marL="0">
              <a:buNone/>
            </a:pPr>
            <a:r>
              <a:rPr lang="en-US" sz="3000" dirty="0">
                <a:solidFill>
                  <a:srgbClr val="E8B44A"/>
                </a:solidFill>
                <a:latin typeface="Spectral" pitchFamily="34" charset="0"/>
                <a:ea typeface="Spectral" pitchFamily="34" charset="-122"/>
                <a:cs typeface="Spectral" pitchFamily="34" charset="-120"/>
              </a:rPr>
              <a:t>Crafting</a:t>
            </a:r>
            <a:endParaRPr lang="en-US" sz="3000" dirty="0"/>
          </a:p>
        </p:txBody>
      </p:sp>
      <p:sp>
        <p:nvSpPr>
          <p:cNvPr id="35" name="Text 33"/>
          <p:cNvSpPr/>
          <p:nvPr/>
        </p:nvSpPr>
        <p:spPr>
          <a:xfrm>
            <a:off x="9583044" y="5589158"/>
            <a:ext cx="3377726" cy="1118096"/>
          </a:xfrm>
          <a:prstGeom prst="rect">
            <a:avLst/>
          </a:prstGeom>
          <a:noFill/>
          <a:ln/>
        </p:spPr>
        <p:txBody>
          <a:bodyPr wrap="square" lIns="25400" tIns="25400" rIns="25400" bIns="25400" rtlCol="0" anchor="t">
            <a:normAutofit/>
          </a:bodyPr>
          <a:lstStyle/>
          <a:p>
            <a:pPr algn="l" indent="0" marL="0">
              <a:lnSpc>
                <a:spcPct val="106312"/>
              </a:lnSpc>
              <a:buNone/>
            </a:pPr>
            <a:r>
              <a:rPr lang="en-US" sz="2025" dirty="0">
                <a:solidFill>
                  <a:srgbClr val="9B988F"/>
                </a:solidFill>
                <a:latin typeface="IBM Plex Sans" pitchFamily="34" charset="0"/>
                <a:ea typeface="IBM Plex Sans" pitchFamily="34" charset="-122"/>
                <a:cs typeface="IBM Plex Sans" pitchFamily="34" charset="-120"/>
              </a:rPr>
              <a:t>Curated recipes with modeled EV, hit rates and steps</a:t>
            </a:r>
            <a:endParaRPr lang="en-US" sz="2025" dirty="0"/>
          </a:p>
        </p:txBody>
      </p:sp>
      <p:sp>
        <p:nvSpPr>
          <p:cNvPr id="36" name="Shape 34"/>
          <p:cNvSpPr/>
          <p:nvPr/>
        </p:nvSpPr>
        <p:spPr>
          <a:xfrm>
            <a:off x="13425290" y="4414408"/>
            <a:ext cx="3910211" cy="3091656"/>
          </a:xfrm>
          <a:prstGeom prst="roundRect">
            <a:avLst>
              <a:gd name="adj" fmla="val 1849"/>
            </a:avLst>
          </a:prstGeom>
          <a:solidFill>
            <a:srgbClr val="171A1F"/>
          </a:solidFill>
          <a:ln/>
        </p:spPr>
      </p:sp>
      <p:sp>
        <p:nvSpPr>
          <p:cNvPr id="37" name="Shape 35"/>
          <p:cNvSpPr/>
          <p:nvPr/>
        </p:nvSpPr>
        <p:spPr>
          <a:xfrm>
            <a:off x="13425290" y="7495481"/>
            <a:ext cx="3910211" cy="10583"/>
          </a:xfrm>
          <a:prstGeom prst="rect">
            <a:avLst/>
          </a:prstGeom>
          <a:solidFill>
            <a:srgbClr val="2A2E35"/>
          </a:solidFill>
          <a:ln/>
        </p:spPr>
      </p:sp>
      <p:sp>
        <p:nvSpPr>
          <p:cNvPr id="38" name="Shape 36"/>
          <p:cNvSpPr/>
          <p:nvPr/>
        </p:nvSpPr>
        <p:spPr>
          <a:xfrm>
            <a:off x="13425290" y="4414408"/>
            <a:ext cx="3910211" cy="21167"/>
          </a:xfrm>
          <a:prstGeom prst="rect">
            <a:avLst/>
          </a:prstGeom>
          <a:solidFill>
            <a:srgbClr val="5CC8DD"/>
          </a:solidFill>
          <a:ln/>
        </p:spPr>
      </p:sp>
      <p:sp>
        <p:nvSpPr>
          <p:cNvPr id="39" name="Shape 37"/>
          <p:cNvSpPr/>
          <p:nvPr/>
        </p:nvSpPr>
        <p:spPr>
          <a:xfrm>
            <a:off x="13425290" y="4414408"/>
            <a:ext cx="10583" cy="3091656"/>
          </a:xfrm>
          <a:prstGeom prst="rect">
            <a:avLst/>
          </a:prstGeom>
          <a:solidFill>
            <a:srgbClr val="2A2E35"/>
          </a:solidFill>
          <a:ln/>
        </p:spPr>
      </p:sp>
      <p:sp>
        <p:nvSpPr>
          <p:cNvPr id="40" name="Shape 38"/>
          <p:cNvSpPr/>
          <p:nvPr/>
        </p:nvSpPr>
        <p:spPr>
          <a:xfrm>
            <a:off x="17324918" y="4414408"/>
            <a:ext cx="10583" cy="3091656"/>
          </a:xfrm>
          <a:prstGeom prst="rect">
            <a:avLst/>
          </a:prstGeom>
          <a:solidFill>
            <a:srgbClr val="2A2E35"/>
          </a:solidFill>
          <a:ln/>
        </p:spPr>
      </p:sp>
      <p:sp>
        <p:nvSpPr>
          <p:cNvPr id="41" name="Text 39"/>
          <p:cNvSpPr/>
          <p:nvPr/>
        </p:nvSpPr>
        <p:spPr>
          <a:xfrm>
            <a:off x="13740640" y="4816574"/>
            <a:ext cx="3607462" cy="620183"/>
          </a:xfrm>
          <a:prstGeom prst="rect">
            <a:avLst/>
          </a:prstGeom>
          <a:noFill/>
          <a:ln/>
        </p:spPr>
        <p:txBody>
          <a:bodyPr wrap="square" lIns="25400" tIns="25400" rIns="25400" bIns="25400" rtlCol="0" anchor="t">
            <a:normAutofit/>
          </a:bodyPr>
          <a:lstStyle/>
          <a:p>
            <a:pPr algn="l" indent="0" marL="0">
              <a:buNone/>
            </a:pPr>
            <a:r>
              <a:rPr lang="en-US" sz="3000" dirty="0">
                <a:solidFill>
                  <a:srgbClr val="5CC8DD"/>
                </a:solidFill>
                <a:latin typeface="Spectral" pitchFamily="34" charset="0"/>
                <a:ea typeface="Spectral" pitchFamily="34" charset="-122"/>
                <a:cs typeface="Spectral" pitchFamily="34" charset="-120"/>
              </a:rPr>
              <a:t>Coach</a:t>
            </a:r>
            <a:endParaRPr lang="en-US" sz="3000" dirty="0"/>
          </a:p>
        </p:txBody>
      </p:sp>
      <p:sp>
        <p:nvSpPr>
          <p:cNvPr id="42" name="Text 40"/>
          <p:cNvSpPr/>
          <p:nvPr/>
        </p:nvSpPr>
        <p:spPr>
          <a:xfrm>
            <a:off x="13740640" y="5589158"/>
            <a:ext cx="3377896" cy="1118096"/>
          </a:xfrm>
          <a:prstGeom prst="rect">
            <a:avLst/>
          </a:prstGeom>
          <a:noFill/>
          <a:ln/>
        </p:spPr>
        <p:txBody>
          <a:bodyPr wrap="square" lIns="25400" tIns="25400" rIns="25400" bIns="25400" rtlCol="0" anchor="t">
            <a:normAutofit/>
          </a:bodyPr>
          <a:lstStyle/>
          <a:p>
            <a:pPr algn="l" indent="0" marL="0">
              <a:lnSpc>
                <a:spcPct val="106312"/>
              </a:lnSpc>
              <a:buNone/>
            </a:pPr>
            <a:r>
              <a:rPr lang="en-US" sz="2025" dirty="0">
                <a:solidFill>
                  <a:srgbClr val="9B988F"/>
                </a:solidFill>
                <a:latin typeface="IBM Plex Sans" pitchFamily="34" charset="0"/>
                <a:ea typeface="IBM Plex Sans" pitchFamily="34" charset="-122"/>
                <a:cs typeface="IBM Plex Sans" pitchFamily="34" charset="-120"/>
              </a:rPr>
              <a:t>Read-only agent answering with tools, citations and disclaimer</a:t>
            </a:r>
            <a:endParaRPr lang="en-US" sz="2025" dirty="0"/>
          </a:p>
        </p:txBody>
      </p:sp>
      <p:sp>
        <p:nvSpPr>
          <p:cNvPr id="43" name="Shape 41"/>
          <p:cNvSpPr/>
          <p:nvPr/>
        </p:nvSpPr>
        <p:spPr>
          <a:xfrm>
            <a:off x="952500" y="7963132"/>
            <a:ext cx="16383001" cy="10583"/>
          </a:xfrm>
          <a:prstGeom prst="rect">
            <a:avLst/>
          </a:prstGeom>
          <a:solidFill>
            <a:srgbClr val="2A2E35"/>
          </a:solidFill>
          <a:ln/>
        </p:spPr>
      </p:sp>
      <p:sp>
        <p:nvSpPr>
          <p:cNvPr id="44" name="Text 42"/>
          <p:cNvSpPr/>
          <p:nvPr/>
        </p:nvSpPr>
        <p:spPr>
          <a:xfrm>
            <a:off x="952500" y="8221266"/>
            <a:ext cx="18021301" cy="514350"/>
          </a:xfrm>
          <a:prstGeom prst="rect">
            <a:avLst/>
          </a:prstGeom>
          <a:noFill/>
          <a:ln/>
        </p:spPr>
        <p:txBody>
          <a:bodyPr wrap="square" lIns="25400" tIns="25400" rIns="25400" bIns="25400" rtlCol="0" anchor="t">
            <a:normAutofit/>
          </a:bodyPr>
          <a:lstStyle/>
          <a:p>
            <a:pPr algn="l" indent="0" marL="0">
              <a:lnSpc>
                <a:spcPct val="81818"/>
              </a:lnSpc>
              <a:buNone/>
            </a:pPr>
            <a:r>
              <a:rPr lang="en-US" sz="3000" dirty="0">
                <a:solidFill>
                  <a:srgbClr val="E8B44A"/>
                </a:solidFill>
                <a:latin typeface="Spectral" pitchFamily="34" charset="0"/>
                <a:ea typeface="Spectral" pitchFamily="34" charset="-122"/>
                <a:cs typeface="Spectral" pitchFamily="34" charset="-120"/>
              </a:rPr>
              <a:t>An economic decision cockpit for Path of Exile 2 players.</a:t>
            </a:r>
            <a:endParaRPr lang="en-US" sz="3000" dirty="0"/>
          </a:p>
        </p:txBody>
      </p:sp>
      <p:sp>
        <p:nvSpPr>
          <p:cNvPr id="45" name="Text 43"/>
          <p:cNvSpPr/>
          <p:nvPr/>
        </p:nvSpPr>
        <p:spPr>
          <a:xfrm>
            <a:off x="952500" y="8830800"/>
            <a:ext cx="16874491" cy="732301"/>
          </a:xfrm>
          <a:prstGeom prst="rect">
            <a:avLst/>
          </a:prstGeom>
          <a:noFill/>
          <a:ln/>
        </p:spPr>
        <p:txBody>
          <a:bodyPr wrap="square" lIns="25400" tIns="25400" rIns="25400" bIns="25400" rtlCol="0" anchor="t">
            <a:normAutofit/>
          </a:bodyPr>
          <a:lstStyle/>
          <a:p>
            <a:pPr algn="l" indent="0" marL="0">
              <a:lnSpc>
                <a:spcPct val="102516"/>
              </a:lnSpc>
              <a:buNone/>
            </a:pPr>
            <a:r>
              <a:rPr lang="en-US" sz="2025" dirty="0">
                <a:solidFill>
                  <a:srgbClr val="9B988F"/>
                </a:solidFill>
                <a:latin typeface="IBM Plex Sans" pitchFamily="34" charset="0"/>
                <a:ea typeface="IBM Plex Sans" pitchFamily="34" charset="-122"/>
                <a:cs typeface="IBM Plex Sans" pitchFamily="34" charset="-120"/>
              </a:rPr>
              <a:t>Market data finds the opportunity, deterministic models evaluate it, the Coach explains the evidence, and the player decides. The app never trades, clicks in game, or controls gameplay.</a:t>
            </a:r>
            <a:endParaRPr lang="en-US" sz="2025"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4161A"/>
        </a:solidFill>
      </p:bgPr>
    </p:bg>
    <p:spTree>
      <p:nvGrpSpPr>
        <p:cNvPr id="1" name=""/>
        <p:cNvGrpSpPr/>
        <p:nvPr/>
      </p:nvGrpSpPr>
      <p:grpSpPr>
        <a:xfrm>
          <a:off x="0" y="0"/>
          <a:ext cx="0" cy="0"/>
          <a:chOff x="0" y="0"/>
          <a:chExt cx="0" cy="0"/>
        </a:xfrm>
      </p:grpSpPr>
      <p:sp>
        <p:nvSpPr>
          <p:cNvPr id="2" name="Text 0"/>
          <p:cNvSpPr/>
          <p:nvPr/>
        </p:nvSpPr>
        <p:spPr>
          <a:xfrm>
            <a:off x="952500" y="838068"/>
            <a:ext cx="11582549" cy="334433"/>
          </a:xfrm>
          <a:prstGeom prst="rect">
            <a:avLst/>
          </a:prstGeom>
          <a:noFill/>
          <a:ln/>
        </p:spPr>
        <p:txBody>
          <a:bodyPr wrap="square" lIns="25400" tIns="25400" rIns="25400" bIns="25400" rtlCol="0" anchor="t">
            <a:normAutofit/>
          </a:bodyPr>
          <a:lstStyle/>
          <a:p>
            <a:pPr algn="l" indent="0" marL="0">
              <a:buNone/>
            </a:pPr>
            <a:r>
              <a:rPr lang="en-US" sz="1800" spc="360" kern="0" dirty="0">
                <a:solidFill>
                  <a:srgbClr val="A9843A"/>
                </a:solidFill>
                <a:latin typeface="IBM Plex Sans" pitchFamily="34" charset="0"/>
                <a:ea typeface="IBM Plex Sans" pitchFamily="34" charset="-122"/>
                <a:cs typeface="IBM Plex Sans" pitchFamily="34" charset="-120"/>
              </a:rPr>
              <a:t>LIVE DEMO</a:t>
            </a:r>
            <a:endParaRPr lang="en-US" sz="1800" dirty="0"/>
          </a:p>
        </p:txBody>
      </p:sp>
      <p:sp>
        <p:nvSpPr>
          <p:cNvPr id="3" name="Text 1"/>
          <p:cNvSpPr/>
          <p:nvPr/>
        </p:nvSpPr>
        <p:spPr>
          <a:xfrm>
            <a:off x="952500" y="1286702"/>
            <a:ext cx="10845478" cy="1378876"/>
          </a:xfrm>
          <a:prstGeom prst="rect">
            <a:avLst/>
          </a:prstGeom>
          <a:noFill/>
          <a:ln/>
        </p:spPr>
        <p:txBody>
          <a:bodyPr wrap="square" lIns="25400" tIns="25400" rIns="25400" bIns="25400" rtlCol="0" anchor="t">
            <a:normAutofit/>
          </a:bodyPr>
          <a:lstStyle/>
          <a:p>
            <a:pPr algn="l" indent="0" marL="0">
              <a:lnSpc>
                <a:spcPct val="72000"/>
              </a:lnSpc>
              <a:buNone/>
            </a:pPr>
            <a:r>
              <a:rPr lang="en-US" sz="4800" b="1" dirty="0">
                <a:solidFill>
                  <a:srgbClr val="F4F1EA"/>
                </a:solidFill>
                <a:latin typeface="Spectral" pitchFamily="34" charset="0"/>
                <a:ea typeface="Spectral" pitchFamily="34" charset="-122"/>
                <a:cs typeface="Spectral" pitchFamily="34" charset="-120"/>
              </a:rPr>
              <a:t>Market and farming in the live product</a:t>
            </a:r>
            <a:endParaRPr lang="en-US" sz="4800" dirty="0"/>
          </a:p>
        </p:txBody>
      </p:sp>
      <p:sp>
        <p:nvSpPr>
          <p:cNvPr id="4" name="Shape 2"/>
          <p:cNvSpPr/>
          <p:nvPr/>
        </p:nvSpPr>
        <p:spPr>
          <a:xfrm>
            <a:off x="12053590" y="2102611"/>
            <a:ext cx="5281910" cy="524867"/>
          </a:xfrm>
          <a:prstGeom prst="roundRect">
            <a:avLst>
              <a:gd name="adj" fmla="val 5444"/>
            </a:avLst>
          </a:prstGeom>
          <a:solidFill>
            <a:srgbClr val="E8B44A"/>
          </a:solidFill>
          <a:ln/>
        </p:spPr>
      </p:sp>
      <p:sp>
        <p:nvSpPr>
          <p:cNvPr id="5" name="Text 3"/>
          <p:cNvSpPr/>
          <p:nvPr/>
        </p:nvSpPr>
        <p:spPr>
          <a:xfrm>
            <a:off x="12263140" y="2216911"/>
            <a:ext cx="5021267" cy="334367"/>
          </a:xfrm>
          <a:prstGeom prst="rect">
            <a:avLst/>
          </a:prstGeom>
          <a:noFill/>
          <a:ln/>
        </p:spPr>
        <p:txBody>
          <a:bodyPr wrap="none" lIns="25400" tIns="25400" rIns="25400" bIns="25400" rtlCol="0" anchor="t">
            <a:normAutofit/>
          </a:bodyPr>
          <a:lstStyle/>
          <a:p>
            <a:pPr algn="l" indent="0" marL="0">
              <a:buNone/>
            </a:pPr>
            <a:r>
              <a:rPr lang="en-US" sz="1800" spc="288" kern="0" dirty="0">
                <a:solidFill>
                  <a:srgbClr val="14100A"/>
                </a:solidFill>
                <a:latin typeface="IBM Plex Mono" pitchFamily="34" charset="0"/>
                <a:ea typeface="IBM Plex Mono" pitchFamily="34" charset="-122"/>
                <a:cs typeface="IBM Plex Mono" pitchFamily="34" charset="-120"/>
              </a:rPr>
              <a:t>SCREEN RECORDING STARTS HERE</a:t>
            </a:r>
            <a:endParaRPr lang="en-US" sz="1800" dirty="0"/>
          </a:p>
        </p:txBody>
      </p:sp>
      <p:sp>
        <p:nvSpPr>
          <p:cNvPr id="6" name="Shape 4"/>
          <p:cNvSpPr/>
          <p:nvPr/>
        </p:nvSpPr>
        <p:spPr>
          <a:xfrm>
            <a:off x="952500" y="2970279"/>
            <a:ext cx="21167" cy="476250"/>
          </a:xfrm>
          <a:prstGeom prst="rect">
            <a:avLst/>
          </a:prstGeom>
          <a:solidFill>
            <a:srgbClr val="E8B44A"/>
          </a:solidFill>
          <a:ln/>
        </p:spPr>
      </p:sp>
      <p:sp>
        <p:nvSpPr>
          <p:cNvPr id="7" name="Text 5"/>
          <p:cNvSpPr/>
          <p:nvPr/>
        </p:nvSpPr>
        <p:spPr>
          <a:xfrm>
            <a:off x="1240367" y="2970279"/>
            <a:ext cx="16586625" cy="514350"/>
          </a:xfrm>
          <a:prstGeom prst="rect">
            <a:avLst/>
          </a:prstGeom>
          <a:noFill/>
          <a:ln/>
        </p:spPr>
        <p:txBody>
          <a:bodyPr wrap="square" lIns="25400" tIns="25400" rIns="25400" bIns="25400" rtlCol="0" anchor="t">
            <a:normAutofit/>
          </a:bodyPr>
          <a:lstStyle/>
          <a:p>
            <a:pPr algn="l" indent="0" marL="0">
              <a:buNone/>
            </a:pPr>
            <a:r>
              <a:rPr lang="en-US" sz="3000" dirty="0">
                <a:solidFill>
                  <a:srgbClr val="F4F1EA"/>
                </a:solidFill>
                <a:latin typeface="Spectral" pitchFamily="34" charset="0"/>
                <a:ea typeface="Spectral" pitchFamily="34" charset="-122"/>
                <a:cs typeface="Spectral" pitchFamily="34" charset="-120"/>
              </a:rPr>
              <a:t>“I have 20 Divine Orbs. What is the best evidence-backed use of my currency right now?”</a:t>
            </a:r>
            <a:endParaRPr lang="en-US" sz="3000" dirty="0"/>
          </a:p>
        </p:txBody>
      </p:sp>
      <p:sp>
        <p:nvSpPr>
          <p:cNvPr id="8" name="Shape 6"/>
          <p:cNvSpPr/>
          <p:nvPr/>
        </p:nvSpPr>
        <p:spPr>
          <a:xfrm>
            <a:off x="952500" y="3789330"/>
            <a:ext cx="8039034" cy="5096537"/>
          </a:xfrm>
          <a:prstGeom prst="roundRect">
            <a:avLst>
              <a:gd name="adj" fmla="val 1121"/>
            </a:avLst>
          </a:prstGeom>
          <a:solidFill>
            <a:srgbClr val="0B0C0E"/>
          </a:solidFill>
          <a:ln w="10583">
            <a:solidFill>
              <a:srgbClr val="2A2E35"/>
            </a:solidFill>
            <a:prstDash val="solid"/>
          </a:ln>
        </p:spPr>
      </p:sp>
      <p:sp>
        <p:nvSpPr>
          <p:cNvPr id="9" name="Text 7"/>
          <p:cNvSpPr/>
          <p:nvPr/>
        </p:nvSpPr>
        <p:spPr>
          <a:xfrm>
            <a:off x="1191617" y="4028447"/>
            <a:ext cx="8316880" cy="440267"/>
          </a:xfrm>
          <a:prstGeom prst="rect">
            <a:avLst/>
          </a:prstGeom>
          <a:noFill/>
          <a:ln/>
        </p:spPr>
        <p:txBody>
          <a:bodyPr wrap="square" lIns="25400" tIns="25400" rIns="25400" bIns="25400" rtlCol="0" anchor="t">
            <a:normAutofit/>
          </a:bodyPr>
          <a:lstStyle/>
          <a:p>
            <a:pPr algn="l" indent="0" marL="0">
              <a:buNone/>
            </a:pPr>
            <a:r>
              <a:rPr lang="en-US" sz="2400" b="1" dirty="0">
                <a:solidFill>
                  <a:srgbClr val="E8B44A"/>
                </a:solidFill>
                <a:latin typeface="IBM Plex Mono" pitchFamily="34" charset="0"/>
                <a:ea typeface="IBM Plex Mono" pitchFamily="34" charset="-122"/>
                <a:cs typeface="IBM Plex Mono" pitchFamily="34" charset="-120"/>
              </a:rPr>
              <a:t>01</a:t>
            </a:r>
            <a:pPr algn="l" indent="0" marL="0">
              <a:buNone/>
            </a:pPr>
            <a:r>
              <a:rPr lang="en-US" sz="2400" b="1" dirty="0">
                <a:solidFill>
                  <a:srgbClr val="F4F1EA"/>
                </a:solidFill>
                <a:latin typeface="IBM Plex Sans" pitchFamily="34" charset="0"/>
                <a:ea typeface="IBM Plex Sans" pitchFamily="34" charset="-122"/>
                <a:cs typeface="IBM Plex Sans" pitchFamily="34" charset="-120"/>
              </a:rPr>
              <a:t>Market finds a candidate</a:t>
            </a:r>
            <a:endParaRPr lang="en-US" sz="2400" dirty="0"/>
          </a:p>
        </p:txBody>
      </p:sp>
      <p:sp>
        <p:nvSpPr>
          <p:cNvPr id="10" name="Text 8"/>
          <p:cNvSpPr/>
          <p:nvPr/>
        </p:nvSpPr>
        <p:spPr>
          <a:xfrm>
            <a:off x="1191617" y="4487664"/>
            <a:ext cx="8316880" cy="334433"/>
          </a:xfrm>
          <a:prstGeom prst="rect">
            <a:avLst/>
          </a:prstGeom>
          <a:noFill/>
          <a:ln/>
        </p:spPr>
        <p:txBody>
          <a:bodyPr wrap="square" lIns="25400" tIns="25400" rIns="25400" bIns="25400" rtlCol="0" anchor="t">
            <a:normAutofit/>
          </a:bodyPr>
          <a:lstStyle/>
          <a:p>
            <a:pPr algn="l" indent="0" marL="0">
              <a:buNone/>
            </a:pPr>
            <a:r>
              <a:rPr lang="en-US" sz="1800" dirty="0">
                <a:solidFill>
                  <a:srgbClr val="9B988F"/>
                </a:solidFill>
                <a:latin typeface="IBM Plex Sans" pitchFamily="34" charset="0"/>
                <a:ea typeface="IBM Plex Sans" pitchFamily="34" charset="-122"/>
                <a:cs typeface="IBM Plex Sans" pitchFamily="34" charset="-120"/>
              </a:rPr>
              <a:t>Currency Exchange and Top Flip</a:t>
            </a:r>
            <a:endParaRPr lang="en-US" sz="1800" dirty="0"/>
          </a:p>
        </p:txBody>
      </p:sp>
      <p:pic>
        <p:nvPicPr>
          <p:cNvPr id="11" name="Image 0" descr="preencoded.png">    </p:cNvPr>
          <p:cNvPicPr>
            <a:picLocks noChangeAspect="1"/>
          </p:cNvPicPr>
          <p:nvPr/>
        </p:nvPicPr>
        <p:blipFill>
          <a:blip r:embed="rId1"/>
          <a:srcRect l="-5547" r="-5547" t="0" b="0"/>
          <a:stretch/>
        </p:blipFill>
        <p:spPr>
          <a:xfrm>
            <a:off x="1191617" y="4955316"/>
            <a:ext cx="7560800" cy="3691434"/>
          </a:xfrm>
          <a:prstGeom prst="rect">
            <a:avLst/>
          </a:prstGeom>
        </p:spPr>
      </p:pic>
      <p:sp>
        <p:nvSpPr>
          <p:cNvPr id="12" name="Shape 9"/>
          <p:cNvSpPr/>
          <p:nvPr/>
        </p:nvSpPr>
        <p:spPr>
          <a:xfrm>
            <a:off x="9296301" y="3789330"/>
            <a:ext cx="8039199" cy="5096537"/>
          </a:xfrm>
          <a:prstGeom prst="roundRect">
            <a:avLst>
              <a:gd name="adj" fmla="val 1121"/>
            </a:avLst>
          </a:prstGeom>
          <a:solidFill>
            <a:srgbClr val="0B0C0E"/>
          </a:solidFill>
          <a:ln w="10583">
            <a:solidFill>
              <a:srgbClr val="2A2E35"/>
            </a:solidFill>
            <a:prstDash val="solid"/>
          </a:ln>
        </p:spPr>
      </p:sp>
      <p:sp>
        <p:nvSpPr>
          <p:cNvPr id="13" name="Text 10"/>
          <p:cNvSpPr/>
          <p:nvPr/>
        </p:nvSpPr>
        <p:spPr>
          <a:xfrm>
            <a:off x="9535419" y="4028447"/>
            <a:ext cx="8317062" cy="440267"/>
          </a:xfrm>
          <a:prstGeom prst="rect">
            <a:avLst/>
          </a:prstGeom>
          <a:noFill/>
          <a:ln/>
        </p:spPr>
        <p:txBody>
          <a:bodyPr wrap="square" lIns="25400" tIns="25400" rIns="25400" bIns="25400" rtlCol="0" anchor="t">
            <a:normAutofit/>
          </a:bodyPr>
          <a:lstStyle/>
          <a:p>
            <a:pPr algn="l" indent="0" marL="0">
              <a:buNone/>
            </a:pPr>
            <a:r>
              <a:rPr lang="en-US" sz="2400" b="1" dirty="0">
                <a:solidFill>
                  <a:srgbClr val="E8B44A"/>
                </a:solidFill>
                <a:latin typeface="IBM Plex Mono" pitchFamily="34" charset="0"/>
                <a:ea typeface="IBM Plex Mono" pitchFamily="34" charset="-122"/>
                <a:cs typeface="IBM Plex Mono" pitchFamily="34" charset="-120"/>
              </a:rPr>
              <a:t>02</a:t>
            </a:r>
            <a:pPr algn="l" indent="0" marL="0">
              <a:buNone/>
            </a:pPr>
            <a:r>
              <a:rPr lang="en-US" sz="2400" b="1" dirty="0">
                <a:solidFill>
                  <a:srgbClr val="F4F1EA"/>
                </a:solidFill>
                <a:latin typeface="IBM Plex Sans" pitchFamily="34" charset="0"/>
                <a:ea typeface="IBM Plex Sans" pitchFamily="34" charset="-122"/>
                <a:cs typeface="IBM Plex Sans" pitchFamily="34" charset="-120"/>
              </a:rPr>
              <a:t>FarmAdvisor offers an alternative</a:t>
            </a:r>
            <a:endParaRPr lang="en-US" sz="2400" dirty="0"/>
          </a:p>
        </p:txBody>
      </p:sp>
      <p:sp>
        <p:nvSpPr>
          <p:cNvPr id="14" name="Text 11"/>
          <p:cNvSpPr/>
          <p:nvPr/>
        </p:nvSpPr>
        <p:spPr>
          <a:xfrm>
            <a:off x="9535419" y="4487664"/>
            <a:ext cx="8317062" cy="334433"/>
          </a:xfrm>
          <a:prstGeom prst="rect">
            <a:avLst/>
          </a:prstGeom>
          <a:noFill/>
          <a:ln/>
        </p:spPr>
        <p:txBody>
          <a:bodyPr wrap="square" lIns="25400" tIns="25400" rIns="25400" bIns="25400" rtlCol="0" anchor="t">
            <a:normAutofit/>
          </a:bodyPr>
          <a:lstStyle/>
          <a:p>
            <a:pPr algn="l" indent="0" marL="0">
              <a:buNone/>
            </a:pPr>
            <a:r>
              <a:rPr lang="en-US" sz="1800" dirty="0">
                <a:solidFill>
                  <a:srgbClr val="9B988F"/>
                </a:solidFill>
                <a:latin typeface="IBM Plex Sans" pitchFamily="34" charset="0"/>
                <a:ea typeface="IBM Plex Sans" pitchFamily="34" charset="-122"/>
                <a:cs typeface="IBM Plex Sans" pitchFamily="34" charset="-120"/>
              </a:rPr>
              <a:t>What to farm now, by heat and liquidity</a:t>
            </a:r>
            <a:endParaRPr lang="en-US" sz="1800" dirty="0"/>
          </a:p>
        </p:txBody>
      </p:sp>
      <p:pic>
        <p:nvPicPr>
          <p:cNvPr id="15" name="Image 1" descr="preencoded.png">    </p:cNvPr>
          <p:cNvPicPr>
            <a:picLocks noChangeAspect="1"/>
          </p:cNvPicPr>
          <p:nvPr/>
        </p:nvPicPr>
        <p:blipFill>
          <a:blip r:embed="rId2"/>
          <a:srcRect l="-10094" r="-10094" t="0" b="0"/>
          <a:stretch/>
        </p:blipFill>
        <p:spPr>
          <a:xfrm>
            <a:off x="9535419" y="4955316"/>
            <a:ext cx="7560965" cy="3691434"/>
          </a:xfrm>
          <a:prstGeom prst="rect">
            <a:avLst/>
          </a:prstGeom>
        </p:spPr>
      </p:pic>
      <p:sp>
        <p:nvSpPr>
          <p:cNvPr id="16" name="Text 12"/>
          <p:cNvSpPr/>
          <p:nvPr/>
        </p:nvSpPr>
        <p:spPr>
          <a:xfrm>
            <a:off x="952500" y="9228667"/>
            <a:ext cx="18021301" cy="334433"/>
          </a:xfrm>
          <a:prstGeom prst="rect">
            <a:avLst/>
          </a:prstGeom>
          <a:noFill/>
          <a:ln/>
        </p:spPr>
        <p:txBody>
          <a:bodyPr wrap="square" lIns="25400" tIns="25400" rIns="25400" bIns="25400" rtlCol="0" anchor="t">
            <a:normAutofit/>
          </a:bodyPr>
          <a:lstStyle/>
          <a:p>
            <a:pPr algn="l" indent="0" marL="0">
              <a:buNone/>
            </a:pPr>
            <a:r>
              <a:rPr lang="en-US" sz="1800" dirty="0">
                <a:solidFill>
                  <a:srgbClr val="9B988F"/>
                </a:solidFill>
                <a:latin typeface="IBM Plex Sans" pitchFamily="34" charset="0"/>
                <a:ea typeface="IBM Plex Sans" pitchFamily="34" charset="-122"/>
                <a:cs typeface="IBM Plex Sans" pitchFamily="34" charset="-120"/>
              </a:rPr>
              <a:t>Steps 1 and 2 of 4 — each screen is shown full-size in the live demo.</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4161A"/>
        </a:solidFill>
      </p:bgPr>
    </p:bg>
    <p:spTree>
      <p:nvGrpSpPr>
        <p:cNvPr id="1" name=""/>
        <p:cNvGrpSpPr/>
        <p:nvPr/>
      </p:nvGrpSpPr>
      <p:grpSpPr>
        <a:xfrm>
          <a:off x="0" y="0"/>
          <a:ext cx="0" cy="0"/>
          <a:chOff x="0" y="0"/>
          <a:chExt cx="0" cy="0"/>
        </a:xfrm>
      </p:grpSpPr>
      <p:sp>
        <p:nvSpPr>
          <p:cNvPr id="2" name="Text 0"/>
          <p:cNvSpPr/>
          <p:nvPr/>
        </p:nvSpPr>
        <p:spPr>
          <a:xfrm>
            <a:off x="952500" y="838068"/>
            <a:ext cx="9489778" cy="334433"/>
          </a:xfrm>
          <a:prstGeom prst="rect">
            <a:avLst/>
          </a:prstGeom>
          <a:noFill/>
          <a:ln/>
        </p:spPr>
        <p:txBody>
          <a:bodyPr wrap="square" lIns="25400" tIns="25400" rIns="25400" bIns="25400" rtlCol="0" anchor="t">
            <a:normAutofit/>
          </a:bodyPr>
          <a:lstStyle/>
          <a:p>
            <a:pPr algn="l" indent="0" marL="0">
              <a:buNone/>
            </a:pPr>
            <a:r>
              <a:rPr lang="en-US" sz="1800" spc="360" kern="0" dirty="0">
                <a:solidFill>
                  <a:srgbClr val="A9843A"/>
                </a:solidFill>
                <a:latin typeface="IBM Plex Sans" pitchFamily="34" charset="0"/>
                <a:ea typeface="IBM Plex Sans" pitchFamily="34" charset="-122"/>
                <a:cs typeface="IBM Plex Sans" pitchFamily="34" charset="-120"/>
              </a:rPr>
              <a:t>LIVE DEMO</a:t>
            </a:r>
            <a:endParaRPr lang="en-US" sz="1800" dirty="0"/>
          </a:p>
        </p:txBody>
      </p:sp>
      <p:sp>
        <p:nvSpPr>
          <p:cNvPr id="3" name="Text 1"/>
          <p:cNvSpPr/>
          <p:nvPr/>
        </p:nvSpPr>
        <p:spPr>
          <a:xfrm>
            <a:off x="952500" y="1286702"/>
            <a:ext cx="9489778" cy="708488"/>
          </a:xfrm>
          <a:prstGeom prst="rect">
            <a:avLst/>
          </a:prstGeom>
          <a:noFill/>
          <a:ln/>
        </p:spPr>
        <p:txBody>
          <a:bodyPr wrap="square" lIns="25400" tIns="25400" rIns="25400" bIns="25400" rtlCol="0" anchor="t">
            <a:normAutofit/>
          </a:bodyPr>
          <a:lstStyle/>
          <a:p>
            <a:pPr algn="l" indent="0" marL="0">
              <a:lnSpc>
                <a:spcPct val="72000"/>
              </a:lnSpc>
              <a:buNone/>
            </a:pPr>
            <a:r>
              <a:rPr lang="en-US" sz="4800" b="1" dirty="0">
                <a:solidFill>
                  <a:srgbClr val="F4F1EA"/>
                </a:solidFill>
                <a:latin typeface="Spectral" pitchFamily="34" charset="0"/>
                <a:ea typeface="Spectral" pitchFamily="34" charset="-122"/>
                <a:cs typeface="Spectral" pitchFamily="34" charset="-120"/>
              </a:rPr>
              <a:t>Craft economics and the Coach</a:t>
            </a:r>
            <a:endParaRPr lang="en-US" sz="4800" dirty="0"/>
          </a:p>
        </p:txBody>
      </p:sp>
      <p:sp>
        <p:nvSpPr>
          <p:cNvPr id="4" name="Shape 2"/>
          <p:cNvSpPr/>
          <p:nvPr/>
        </p:nvSpPr>
        <p:spPr>
          <a:xfrm>
            <a:off x="10469398" y="1411056"/>
            <a:ext cx="6866103" cy="546034"/>
          </a:xfrm>
          <a:prstGeom prst="roundRect">
            <a:avLst>
              <a:gd name="adj" fmla="val 5233"/>
            </a:avLst>
          </a:prstGeom>
          <a:solidFill>
            <a:srgbClr val="12191D"/>
          </a:solidFill>
          <a:ln w="10583">
            <a:solidFill>
              <a:srgbClr val="24404A"/>
            </a:solidFill>
            <a:prstDash val="solid"/>
          </a:ln>
        </p:spPr>
      </p:sp>
      <p:sp>
        <p:nvSpPr>
          <p:cNvPr id="5" name="Text 3"/>
          <p:cNvSpPr/>
          <p:nvPr/>
        </p:nvSpPr>
        <p:spPr>
          <a:xfrm>
            <a:off x="10689531" y="1535939"/>
            <a:ext cx="6631819" cy="334367"/>
          </a:xfrm>
          <a:prstGeom prst="rect">
            <a:avLst/>
          </a:prstGeom>
          <a:noFill/>
          <a:ln/>
        </p:spPr>
        <p:txBody>
          <a:bodyPr wrap="none" lIns="25400" tIns="25400" rIns="25400" bIns="25400" rtlCol="0" anchor="t">
            <a:normAutofit/>
          </a:bodyPr>
          <a:lstStyle/>
          <a:p>
            <a:pPr algn="l" indent="0" marL="0">
              <a:buNone/>
            </a:pPr>
            <a:r>
              <a:rPr lang="en-US" sz="1800" spc="288" kern="0" dirty="0">
                <a:solidFill>
                  <a:srgbClr val="5CC8DD"/>
                </a:solidFill>
                <a:latin typeface="IBM Plex Mono" pitchFamily="34" charset="0"/>
                <a:ea typeface="IBM Plex Mono" pitchFamily="34" charset="-122"/>
                <a:cs typeface="IBM Plex Mono" pitchFamily="34" charset="-120"/>
              </a:rPr>
              <a:t>TOOLS, SOURCES, AND LIMITATIONS SHOWN</a:t>
            </a:r>
            <a:endParaRPr lang="en-US" sz="1800" dirty="0"/>
          </a:p>
        </p:txBody>
      </p:sp>
      <p:sp>
        <p:nvSpPr>
          <p:cNvPr id="6" name="Shape 4"/>
          <p:cNvSpPr/>
          <p:nvPr/>
        </p:nvSpPr>
        <p:spPr>
          <a:xfrm>
            <a:off x="952500" y="2299891"/>
            <a:ext cx="21167" cy="396048"/>
          </a:xfrm>
          <a:prstGeom prst="rect">
            <a:avLst/>
          </a:prstGeom>
          <a:solidFill>
            <a:srgbClr val="A9843A"/>
          </a:solidFill>
          <a:ln/>
        </p:spPr>
      </p:sp>
      <p:sp>
        <p:nvSpPr>
          <p:cNvPr id="7" name="Text 5"/>
          <p:cNvSpPr/>
          <p:nvPr/>
        </p:nvSpPr>
        <p:spPr>
          <a:xfrm>
            <a:off x="1240367" y="2299891"/>
            <a:ext cx="16586625" cy="434148"/>
          </a:xfrm>
          <a:prstGeom prst="rect">
            <a:avLst/>
          </a:prstGeom>
          <a:noFill/>
          <a:ln/>
        </p:spPr>
        <p:txBody>
          <a:bodyPr wrap="square" lIns="25400" tIns="25400" rIns="25400" bIns="25400" rtlCol="0" anchor="t">
            <a:normAutofit/>
          </a:bodyPr>
          <a:lstStyle/>
          <a:p>
            <a:pPr algn="l" indent="0" marL="0">
              <a:buNone/>
            </a:pPr>
            <a:r>
              <a:rPr lang="en-US" sz="2400" dirty="0">
                <a:solidFill>
                  <a:srgbClr val="9B988F"/>
                </a:solidFill>
                <a:latin typeface="IBM Plex Sans" pitchFamily="34" charset="0"/>
                <a:ea typeface="IBM Plex Sans" pitchFamily="34" charset="-122"/>
                <a:cs typeface="IBM Plex Sans" pitchFamily="34" charset="-120"/>
              </a:rPr>
              <a:t>Same 20 Divine Orbs — the third option, and the explanation behind all three.</a:t>
            </a:r>
            <a:endParaRPr lang="en-US" sz="2400" dirty="0"/>
          </a:p>
        </p:txBody>
      </p:sp>
      <p:sp>
        <p:nvSpPr>
          <p:cNvPr id="8" name="Shape 6"/>
          <p:cNvSpPr/>
          <p:nvPr/>
        </p:nvSpPr>
        <p:spPr>
          <a:xfrm>
            <a:off x="952500" y="3038740"/>
            <a:ext cx="8039034" cy="5847127"/>
          </a:xfrm>
          <a:prstGeom prst="roundRect">
            <a:avLst>
              <a:gd name="adj" fmla="val 977"/>
            </a:avLst>
          </a:prstGeom>
          <a:solidFill>
            <a:srgbClr val="0B0C0E"/>
          </a:solidFill>
          <a:ln w="10583">
            <a:solidFill>
              <a:srgbClr val="2A2E35"/>
            </a:solidFill>
            <a:prstDash val="solid"/>
          </a:ln>
        </p:spPr>
      </p:sp>
      <p:sp>
        <p:nvSpPr>
          <p:cNvPr id="9" name="Text 7"/>
          <p:cNvSpPr/>
          <p:nvPr/>
        </p:nvSpPr>
        <p:spPr>
          <a:xfrm>
            <a:off x="1191617" y="3277857"/>
            <a:ext cx="8316880" cy="440267"/>
          </a:xfrm>
          <a:prstGeom prst="rect">
            <a:avLst/>
          </a:prstGeom>
          <a:noFill/>
          <a:ln/>
        </p:spPr>
        <p:txBody>
          <a:bodyPr wrap="square" lIns="25400" tIns="25400" rIns="25400" bIns="25400" rtlCol="0" anchor="t">
            <a:normAutofit/>
          </a:bodyPr>
          <a:lstStyle/>
          <a:p>
            <a:pPr algn="l" indent="0" marL="0">
              <a:buNone/>
            </a:pPr>
            <a:r>
              <a:rPr lang="en-US" sz="2400" b="1" dirty="0">
                <a:solidFill>
                  <a:srgbClr val="E8B44A"/>
                </a:solidFill>
                <a:latin typeface="IBM Plex Mono" pitchFamily="34" charset="0"/>
                <a:ea typeface="IBM Plex Mono" pitchFamily="34" charset="-122"/>
                <a:cs typeface="IBM Plex Mono" pitchFamily="34" charset="-120"/>
              </a:rPr>
              <a:t>03</a:t>
            </a:r>
            <a:pPr algn="l" indent="0" marL="0">
              <a:buNone/>
            </a:pPr>
            <a:r>
              <a:rPr lang="en-US" sz="2400" b="1" dirty="0">
                <a:solidFill>
                  <a:srgbClr val="F4F1EA"/>
                </a:solidFill>
                <a:latin typeface="IBM Plex Sans" pitchFamily="34" charset="0"/>
                <a:ea typeface="IBM Plex Sans" pitchFamily="34" charset="-122"/>
                <a:cs typeface="IBM Plex Sans" pitchFamily="34" charset="-120"/>
              </a:rPr>
              <a:t>Crafting shows cost, EV and risk</a:t>
            </a:r>
            <a:endParaRPr lang="en-US" sz="2400" dirty="0"/>
          </a:p>
        </p:txBody>
      </p:sp>
      <p:sp>
        <p:nvSpPr>
          <p:cNvPr id="10" name="Text 8"/>
          <p:cNvSpPr/>
          <p:nvPr/>
        </p:nvSpPr>
        <p:spPr>
          <a:xfrm>
            <a:off x="1191617" y="3737075"/>
            <a:ext cx="8316880" cy="334433"/>
          </a:xfrm>
          <a:prstGeom prst="rect">
            <a:avLst/>
          </a:prstGeom>
          <a:noFill/>
          <a:ln/>
        </p:spPr>
        <p:txBody>
          <a:bodyPr wrap="square" lIns="25400" tIns="25400" rIns="25400" bIns="25400" rtlCol="0" anchor="t">
            <a:normAutofit/>
          </a:bodyPr>
          <a:lstStyle/>
          <a:p>
            <a:pPr algn="l" indent="0" marL="0">
              <a:buNone/>
            </a:pPr>
            <a:r>
              <a:rPr lang="en-US" sz="1800" dirty="0">
                <a:solidFill>
                  <a:srgbClr val="9B988F"/>
                </a:solidFill>
                <a:latin typeface="IBM Plex Sans" pitchFamily="34" charset="0"/>
                <a:ea typeface="IBM Plex Sans" pitchFamily="34" charset="-122"/>
                <a:cs typeface="IBM Plex Sans" pitchFamily="34" charset="-120"/>
              </a:rPr>
              <a:t>Curated recipe with modeled EV per attempt</a:t>
            </a:r>
            <a:endParaRPr lang="en-US" sz="1800" dirty="0"/>
          </a:p>
        </p:txBody>
      </p:sp>
      <p:pic>
        <p:nvPicPr>
          <p:cNvPr id="11" name="Image 0" descr="preencoded.png">    </p:cNvPr>
          <p:cNvPicPr>
            <a:picLocks noChangeAspect="1"/>
          </p:cNvPicPr>
          <p:nvPr/>
        </p:nvPicPr>
        <p:blipFill>
          <a:blip r:embed="rId1"/>
          <a:srcRect l="-627" r="-627" t="0" b="0"/>
          <a:stretch/>
        </p:blipFill>
        <p:spPr>
          <a:xfrm>
            <a:off x="1191617" y="4204725"/>
            <a:ext cx="7560800" cy="4442024"/>
          </a:xfrm>
          <a:prstGeom prst="rect">
            <a:avLst/>
          </a:prstGeom>
        </p:spPr>
      </p:pic>
      <p:sp>
        <p:nvSpPr>
          <p:cNvPr id="12" name="Shape 9"/>
          <p:cNvSpPr/>
          <p:nvPr/>
        </p:nvSpPr>
        <p:spPr>
          <a:xfrm>
            <a:off x="9296301" y="3038740"/>
            <a:ext cx="8039199" cy="5847127"/>
          </a:xfrm>
          <a:prstGeom prst="roundRect">
            <a:avLst>
              <a:gd name="adj" fmla="val 977"/>
            </a:avLst>
          </a:prstGeom>
          <a:solidFill>
            <a:srgbClr val="0B0C0E"/>
          </a:solidFill>
          <a:ln w="10583">
            <a:solidFill>
              <a:srgbClr val="2A2E35"/>
            </a:solidFill>
            <a:prstDash val="solid"/>
          </a:ln>
        </p:spPr>
      </p:sp>
      <p:sp>
        <p:nvSpPr>
          <p:cNvPr id="13" name="Text 10"/>
          <p:cNvSpPr/>
          <p:nvPr/>
        </p:nvSpPr>
        <p:spPr>
          <a:xfrm>
            <a:off x="9535419" y="3277857"/>
            <a:ext cx="8317062" cy="440267"/>
          </a:xfrm>
          <a:prstGeom prst="rect">
            <a:avLst/>
          </a:prstGeom>
          <a:noFill/>
          <a:ln/>
        </p:spPr>
        <p:txBody>
          <a:bodyPr wrap="square" lIns="25400" tIns="25400" rIns="25400" bIns="25400" rtlCol="0" anchor="t">
            <a:normAutofit/>
          </a:bodyPr>
          <a:lstStyle/>
          <a:p>
            <a:pPr algn="l" indent="0" marL="0">
              <a:buNone/>
            </a:pPr>
            <a:r>
              <a:rPr lang="en-US" sz="2400" b="1" dirty="0">
                <a:solidFill>
                  <a:srgbClr val="5CC8DD"/>
                </a:solidFill>
                <a:latin typeface="IBM Plex Mono" pitchFamily="34" charset="0"/>
                <a:ea typeface="IBM Plex Mono" pitchFamily="34" charset="-122"/>
                <a:cs typeface="IBM Plex Mono" pitchFamily="34" charset="-120"/>
              </a:rPr>
              <a:t>04</a:t>
            </a:r>
            <a:pPr algn="l" indent="0" marL="0">
              <a:buNone/>
            </a:pPr>
            <a:r>
              <a:rPr lang="en-US" sz="2400" b="1" dirty="0">
                <a:solidFill>
                  <a:srgbClr val="F4F1EA"/>
                </a:solidFill>
                <a:latin typeface="IBM Plex Sans" pitchFamily="34" charset="0"/>
                <a:ea typeface="IBM Plex Sans" pitchFamily="34" charset="-122"/>
                <a:cs typeface="IBM Plex Sans" pitchFamily="34" charset="-120"/>
              </a:rPr>
              <a:t>Coach explains the differences</a:t>
            </a:r>
            <a:endParaRPr lang="en-US" sz="2400" dirty="0"/>
          </a:p>
        </p:txBody>
      </p:sp>
      <p:sp>
        <p:nvSpPr>
          <p:cNvPr id="14" name="Text 11"/>
          <p:cNvSpPr/>
          <p:nvPr/>
        </p:nvSpPr>
        <p:spPr>
          <a:xfrm>
            <a:off x="9535419" y="3737075"/>
            <a:ext cx="8317062" cy="334433"/>
          </a:xfrm>
          <a:prstGeom prst="rect">
            <a:avLst/>
          </a:prstGeom>
          <a:noFill/>
          <a:ln/>
        </p:spPr>
        <p:txBody>
          <a:bodyPr wrap="square" lIns="25400" tIns="25400" rIns="25400" bIns="25400" rtlCol="0" anchor="t">
            <a:normAutofit/>
          </a:bodyPr>
          <a:lstStyle/>
          <a:p>
            <a:pPr algn="l" indent="0" marL="0">
              <a:buNone/>
            </a:pPr>
            <a:r>
              <a:rPr lang="en-US" sz="1800" dirty="0">
                <a:solidFill>
                  <a:srgbClr val="9B988F"/>
                </a:solidFill>
                <a:latin typeface="IBM Plex Sans" pitchFamily="34" charset="0"/>
                <a:ea typeface="IBM Plex Sans" pitchFamily="34" charset="-122"/>
                <a:cs typeface="IBM Plex Sans" pitchFamily="34" charset="-120"/>
              </a:rPr>
              <a:t>Answer with tools, source cards and disclaimer</a:t>
            </a:r>
            <a:endParaRPr lang="en-US" sz="1800" dirty="0"/>
          </a:p>
        </p:txBody>
      </p:sp>
      <p:pic>
        <p:nvPicPr>
          <p:cNvPr id="15" name="Image 1" descr="preencoded.png">    </p:cNvPr>
          <p:cNvPicPr>
            <a:picLocks noChangeAspect="1"/>
          </p:cNvPicPr>
          <p:nvPr/>
        </p:nvPicPr>
        <p:blipFill>
          <a:blip r:embed="rId2"/>
          <a:srcRect l="-14125" r="-14125" t="0" b="0"/>
          <a:stretch/>
        </p:blipFill>
        <p:spPr>
          <a:xfrm>
            <a:off x="9535419" y="4204725"/>
            <a:ext cx="7560965" cy="4442024"/>
          </a:xfrm>
          <a:prstGeom prst="rect">
            <a:avLst/>
          </a:prstGeom>
        </p:spPr>
      </p:pic>
      <p:sp>
        <p:nvSpPr>
          <p:cNvPr id="16" name="Text 12"/>
          <p:cNvSpPr/>
          <p:nvPr/>
        </p:nvSpPr>
        <p:spPr>
          <a:xfrm>
            <a:off x="952500" y="9228667"/>
            <a:ext cx="18021301" cy="334433"/>
          </a:xfrm>
          <a:prstGeom prst="rect">
            <a:avLst/>
          </a:prstGeom>
          <a:noFill/>
          <a:ln/>
        </p:spPr>
        <p:txBody>
          <a:bodyPr wrap="square" lIns="25400" tIns="25400" rIns="25400" bIns="25400" rtlCol="0" anchor="t">
            <a:normAutofit/>
          </a:bodyPr>
          <a:lstStyle/>
          <a:p>
            <a:pPr algn="l" indent="0" marL="0">
              <a:buNone/>
            </a:pPr>
            <a:r>
              <a:rPr lang="en-US" sz="1800" dirty="0">
                <a:solidFill>
                  <a:srgbClr val="9B988F"/>
                </a:solidFill>
                <a:latin typeface="IBM Plex Sans" pitchFamily="34" charset="0"/>
                <a:ea typeface="IBM Plex Sans" pitchFamily="34" charset="-122"/>
                <a:cs typeface="IBM Plex Sans" pitchFamily="34" charset="-120"/>
              </a:rPr>
              <a:t>Steps 3 and 4 of 4 — each screen is shown full-size in the live demo.</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E0F12"/>
        </a:solidFill>
      </p:bgPr>
    </p:bg>
    <p:spTree>
      <p:nvGrpSpPr>
        <p:cNvPr id="1" name=""/>
        <p:cNvGrpSpPr/>
        <p:nvPr/>
      </p:nvGrpSpPr>
      <p:grpSpPr>
        <a:xfrm>
          <a:off x="0" y="0"/>
          <a:ext cx="0" cy="0"/>
          <a:chOff x="0" y="0"/>
          <a:chExt cx="0" cy="0"/>
        </a:xfrm>
      </p:grpSpPr>
      <p:sp>
        <p:nvSpPr>
          <p:cNvPr id="2" name="Text 0"/>
          <p:cNvSpPr/>
          <p:nvPr/>
        </p:nvSpPr>
        <p:spPr>
          <a:xfrm>
            <a:off x="952500" y="838068"/>
            <a:ext cx="18021301" cy="334433"/>
          </a:xfrm>
          <a:prstGeom prst="rect">
            <a:avLst/>
          </a:prstGeom>
          <a:noFill/>
          <a:ln/>
        </p:spPr>
        <p:txBody>
          <a:bodyPr wrap="square" lIns="25400" tIns="25400" rIns="25400" bIns="25400" rtlCol="0" anchor="t">
            <a:normAutofit/>
          </a:bodyPr>
          <a:lstStyle/>
          <a:p>
            <a:pPr algn="l" indent="0" marL="0">
              <a:buNone/>
            </a:pPr>
            <a:r>
              <a:rPr lang="en-US" sz="1800" spc="360" kern="0" dirty="0">
                <a:solidFill>
                  <a:srgbClr val="A9843A"/>
                </a:solidFill>
                <a:latin typeface="IBM Plex Sans" pitchFamily="34" charset="0"/>
                <a:ea typeface="IBM Plex Sans" pitchFamily="34" charset="-122"/>
                <a:cs typeface="IBM Plex Sans" pitchFamily="34" charset="-120"/>
              </a:rPr>
              <a:t>HOW IT WORKS</a:t>
            </a:r>
            <a:endParaRPr lang="en-US" sz="1800" dirty="0"/>
          </a:p>
        </p:txBody>
      </p:sp>
      <p:sp>
        <p:nvSpPr>
          <p:cNvPr id="3" name="Text 1"/>
          <p:cNvSpPr/>
          <p:nvPr/>
        </p:nvSpPr>
        <p:spPr>
          <a:xfrm>
            <a:off x="952500" y="1286702"/>
            <a:ext cx="18021301" cy="708488"/>
          </a:xfrm>
          <a:prstGeom prst="rect">
            <a:avLst/>
          </a:prstGeom>
          <a:noFill/>
          <a:ln/>
        </p:spPr>
        <p:txBody>
          <a:bodyPr wrap="square" lIns="25400" tIns="25400" rIns="25400" bIns="25400" rtlCol="0" anchor="t">
            <a:normAutofit/>
          </a:bodyPr>
          <a:lstStyle/>
          <a:p>
            <a:pPr algn="l" indent="0" marL="0">
              <a:lnSpc>
                <a:spcPct val="72000"/>
              </a:lnSpc>
              <a:buNone/>
            </a:pPr>
            <a:r>
              <a:rPr lang="en-US" sz="4800" b="1" dirty="0">
                <a:solidFill>
                  <a:srgbClr val="F4F1EA"/>
                </a:solidFill>
                <a:latin typeface="Spectral" pitchFamily="34" charset="0"/>
                <a:ea typeface="Spectral" pitchFamily="34" charset="-122"/>
                <a:cs typeface="Spectral" pitchFamily="34" charset="-120"/>
              </a:rPr>
              <a:t>From question to inspectable answer</a:t>
            </a:r>
            <a:endParaRPr lang="en-US" sz="4800" dirty="0"/>
          </a:p>
        </p:txBody>
      </p:sp>
      <p:sp>
        <p:nvSpPr>
          <p:cNvPr id="4" name="Shape 2"/>
          <p:cNvSpPr/>
          <p:nvPr/>
        </p:nvSpPr>
        <p:spPr>
          <a:xfrm>
            <a:off x="952500" y="2414158"/>
            <a:ext cx="3517636" cy="2379100"/>
          </a:xfrm>
          <a:prstGeom prst="roundRect">
            <a:avLst>
              <a:gd name="adj" fmla="val 2402"/>
            </a:avLst>
          </a:prstGeom>
          <a:solidFill>
            <a:srgbClr val="171A1F"/>
          </a:solidFill>
          <a:ln w="10583">
            <a:solidFill>
              <a:srgbClr val="2A2E35"/>
            </a:solidFill>
            <a:prstDash val="solid"/>
          </a:ln>
        </p:spPr>
      </p:sp>
      <p:sp>
        <p:nvSpPr>
          <p:cNvPr id="5" name="Text 3"/>
          <p:cNvSpPr/>
          <p:nvPr/>
        </p:nvSpPr>
        <p:spPr>
          <a:xfrm>
            <a:off x="1210634" y="2729508"/>
            <a:ext cx="3301504" cy="476151"/>
          </a:xfrm>
          <a:prstGeom prst="rect">
            <a:avLst/>
          </a:prstGeom>
          <a:noFill/>
          <a:ln/>
        </p:spPr>
        <p:txBody>
          <a:bodyPr wrap="square" lIns="25400" tIns="25400" rIns="25400" bIns="25400" rtlCol="0" anchor="t">
            <a:normAutofit/>
          </a:bodyPr>
          <a:lstStyle/>
          <a:p>
            <a:pPr algn="l" indent="0" marL="0">
              <a:lnSpc>
                <a:spcPct val="75273"/>
              </a:lnSpc>
              <a:buNone/>
            </a:pPr>
            <a:r>
              <a:rPr lang="en-US" sz="3000" dirty="0">
                <a:solidFill>
                  <a:srgbClr val="F4F1EA"/>
                </a:solidFill>
                <a:latin typeface="Spectral" pitchFamily="34" charset="0"/>
                <a:ea typeface="Spectral" pitchFamily="34" charset="-122"/>
                <a:cs typeface="Spectral" pitchFamily="34" charset="-120"/>
              </a:rPr>
              <a:t>Player</a:t>
            </a:r>
            <a:endParaRPr lang="en-US" sz="3000" dirty="0"/>
          </a:p>
        </p:txBody>
      </p:sp>
      <p:sp>
        <p:nvSpPr>
          <p:cNvPr id="6" name="Text 4"/>
          <p:cNvSpPr/>
          <p:nvPr/>
        </p:nvSpPr>
        <p:spPr>
          <a:xfrm>
            <a:off x="1210634" y="3319860"/>
            <a:ext cx="3091408" cy="758097"/>
          </a:xfrm>
          <a:prstGeom prst="rect">
            <a:avLst/>
          </a:prstGeom>
          <a:noFill/>
          <a:ln/>
        </p:spPr>
        <p:txBody>
          <a:bodyPr wrap="square" lIns="25400" tIns="25400" rIns="25400" bIns="25400" rtlCol="0" anchor="t">
            <a:normAutofit/>
          </a:bodyPr>
          <a:lstStyle/>
          <a:p>
            <a:pPr algn="l" indent="0" marL="0">
              <a:lnSpc>
                <a:spcPct val="106312"/>
              </a:lnSpc>
              <a:buNone/>
            </a:pPr>
            <a:r>
              <a:rPr lang="en-US" sz="2025" dirty="0">
                <a:solidFill>
                  <a:srgbClr val="9B988F"/>
                </a:solidFill>
                <a:latin typeface="IBM Plex Sans" pitchFamily="34" charset="0"/>
                <a:ea typeface="IBM Plex Sans" pitchFamily="34" charset="-122"/>
                <a:cs typeface="IBM Plex Sans" pitchFamily="34" charset="-120"/>
              </a:rPr>
              <a:t>Asks with currency in hand</a:t>
            </a:r>
            <a:endParaRPr lang="en-US" sz="2025" dirty="0"/>
          </a:p>
        </p:txBody>
      </p:sp>
      <p:sp>
        <p:nvSpPr>
          <p:cNvPr id="7" name="Text 5"/>
          <p:cNvSpPr/>
          <p:nvPr/>
        </p:nvSpPr>
        <p:spPr>
          <a:xfrm>
            <a:off x="4622436" y="2414158"/>
            <a:ext cx="192121" cy="2417200"/>
          </a:xfrm>
          <a:prstGeom prst="rect">
            <a:avLst/>
          </a:prstGeom>
          <a:noFill/>
          <a:ln/>
        </p:spPr>
        <p:txBody>
          <a:bodyPr wrap="square" lIns="25400" tIns="25400" rIns="25400" bIns="25400" rtlCol="0" anchor="ctr">
            <a:normAutofit/>
          </a:bodyPr>
          <a:lstStyle/>
          <a:p>
            <a:pPr algn="l" indent="0" marL="0">
              <a:buNone/>
            </a:pPr>
            <a:r>
              <a:rPr lang="en-US" sz="3000" dirty="0">
                <a:solidFill>
                  <a:srgbClr val="A9843A"/>
                </a:solidFill>
                <a:latin typeface="IBM Plex Sans" pitchFamily="34" charset="0"/>
                <a:ea typeface="IBM Plex Sans" pitchFamily="34" charset="-122"/>
                <a:cs typeface="IBM Plex Sans" pitchFamily="34" charset="-120"/>
              </a:rPr>
              <a:t>›</a:t>
            </a:r>
            <a:endParaRPr lang="en-US" sz="3000" dirty="0"/>
          </a:p>
        </p:txBody>
      </p:sp>
      <p:sp>
        <p:nvSpPr>
          <p:cNvPr id="8" name="Shape 6"/>
          <p:cNvSpPr/>
          <p:nvPr/>
        </p:nvSpPr>
        <p:spPr>
          <a:xfrm>
            <a:off x="4890658" y="2414158"/>
            <a:ext cx="3517801" cy="2379100"/>
          </a:xfrm>
          <a:prstGeom prst="roundRect">
            <a:avLst>
              <a:gd name="adj" fmla="val 2402"/>
            </a:avLst>
          </a:prstGeom>
          <a:solidFill>
            <a:srgbClr val="171A1F"/>
          </a:solidFill>
          <a:ln w="10583">
            <a:solidFill>
              <a:srgbClr val="2A2E35"/>
            </a:solidFill>
            <a:prstDash val="solid"/>
          </a:ln>
        </p:spPr>
      </p:sp>
      <p:sp>
        <p:nvSpPr>
          <p:cNvPr id="9" name="Text 7"/>
          <p:cNvSpPr/>
          <p:nvPr/>
        </p:nvSpPr>
        <p:spPr>
          <a:xfrm>
            <a:off x="5148792" y="2729508"/>
            <a:ext cx="3091579" cy="914202"/>
          </a:xfrm>
          <a:prstGeom prst="rect">
            <a:avLst/>
          </a:prstGeom>
          <a:noFill/>
          <a:ln/>
        </p:spPr>
        <p:txBody>
          <a:bodyPr wrap="square" lIns="25400" tIns="25400" rIns="25400" bIns="25400" rtlCol="0" anchor="t">
            <a:normAutofit/>
          </a:bodyPr>
          <a:lstStyle/>
          <a:p>
            <a:pPr algn="l" indent="0" marL="0">
              <a:lnSpc>
                <a:spcPct val="75273"/>
              </a:lnSpc>
              <a:buNone/>
            </a:pPr>
            <a:r>
              <a:rPr lang="en-US" sz="3000" dirty="0">
                <a:solidFill>
                  <a:srgbClr val="F4F1EA"/>
                </a:solidFill>
                <a:latin typeface="Spectral" pitchFamily="34" charset="0"/>
                <a:ea typeface="Spectral" pitchFamily="34" charset="-122"/>
                <a:cs typeface="Spectral" pitchFamily="34" charset="-120"/>
              </a:rPr>
              <a:t>Next.js application</a:t>
            </a:r>
            <a:endParaRPr lang="en-US" sz="3000" dirty="0"/>
          </a:p>
        </p:txBody>
      </p:sp>
      <p:sp>
        <p:nvSpPr>
          <p:cNvPr id="10" name="Text 8"/>
          <p:cNvSpPr/>
          <p:nvPr/>
        </p:nvSpPr>
        <p:spPr>
          <a:xfrm>
            <a:off x="5148792" y="3757910"/>
            <a:ext cx="3091579" cy="758097"/>
          </a:xfrm>
          <a:prstGeom prst="rect">
            <a:avLst/>
          </a:prstGeom>
          <a:noFill/>
          <a:ln/>
        </p:spPr>
        <p:txBody>
          <a:bodyPr wrap="square" lIns="25400" tIns="25400" rIns="25400" bIns="25400" rtlCol="0" anchor="t">
            <a:normAutofit/>
          </a:bodyPr>
          <a:lstStyle/>
          <a:p>
            <a:pPr algn="l" indent="0" marL="0">
              <a:lnSpc>
                <a:spcPct val="106312"/>
              </a:lnSpc>
              <a:buNone/>
            </a:pPr>
            <a:r>
              <a:rPr lang="en-US" sz="2025" dirty="0">
                <a:solidFill>
                  <a:srgbClr val="9B988F"/>
                </a:solidFill>
                <a:latin typeface="IBM Plex Sans" pitchFamily="34" charset="0"/>
                <a:ea typeface="IBM Plex Sans" pitchFamily="34" charset="-122"/>
                <a:cs typeface="IBM Plex Sans" pitchFamily="34" charset="-120"/>
              </a:rPr>
              <a:t>Authenticated, HTTPS, scoped threads</a:t>
            </a:r>
            <a:endParaRPr lang="en-US" sz="2025" dirty="0"/>
          </a:p>
        </p:txBody>
      </p:sp>
      <p:sp>
        <p:nvSpPr>
          <p:cNvPr id="11" name="Text 9"/>
          <p:cNvSpPr/>
          <p:nvPr/>
        </p:nvSpPr>
        <p:spPr>
          <a:xfrm>
            <a:off x="8560759" y="2414158"/>
            <a:ext cx="192121" cy="2417200"/>
          </a:xfrm>
          <a:prstGeom prst="rect">
            <a:avLst/>
          </a:prstGeom>
          <a:noFill/>
          <a:ln/>
        </p:spPr>
        <p:txBody>
          <a:bodyPr wrap="square" lIns="25400" tIns="25400" rIns="25400" bIns="25400" rtlCol="0" anchor="ctr">
            <a:normAutofit/>
          </a:bodyPr>
          <a:lstStyle/>
          <a:p>
            <a:pPr algn="l" indent="0" marL="0">
              <a:buNone/>
            </a:pPr>
            <a:r>
              <a:rPr lang="en-US" sz="3000" dirty="0">
                <a:solidFill>
                  <a:srgbClr val="A9843A"/>
                </a:solidFill>
                <a:latin typeface="IBM Plex Sans" pitchFamily="34" charset="0"/>
                <a:ea typeface="IBM Plex Sans" pitchFamily="34" charset="-122"/>
                <a:cs typeface="IBM Plex Sans" pitchFamily="34" charset="-120"/>
              </a:rPr>
              <a:t>›</a:t>
            </a:r>
            <a:endParaRPr lang="en-US" sz="3000" dirty="0"/>
          </a:p>
        </p:txBody>
      </p:sp>
      <p:sp>
        <p:nvSpPr>
          <p:cNvPr id="12" name="Shape 10"/>
          <p:cNvSpPr/>
          <p:nvPr/>
        </p:nvSpPr>
        <p:spPr>
          <a:xfrm>
            <a:off x="8828981" y="2414158"/>
            <a:ext cx="4568197" cy="2379100"/>
          </a:xfrm>
          <a:prstGeom prst="roundRect">
            <a:avLst>
              <a:gd name="adj" fmla="val 2402"/>
            </a:avLst>
          </a:prstGeom>
          <a:solidFill>
            <a:srgbClr val="171A1F"/>
          </a:solidFill>
          <a:ln w="10583">
            <a:solidFill>
              <a:srgbClr val="A9843A"/>
            </a:solidFill>
            <a:prstDash val="solid"/>
          </a:ln>
        </p:spPr>
      </p:sp>
      <p:sp>
        <p:nvSpPr>
          <p:cNvPr id="13" name="Text 11"/>
          <p:cNvSpPr/>
          <p:nvPr/>
        </p:nvSpPr>
        <p:spPr>
          <a:xfrm>
            <a:off x="9087115" y="2729508"/>
            <a:ext cx="4173486" cy="914202"/>
          </a:xfrm>
          <a:prstGeom prst="rect">
            <a:avLst/>
          </a:prstGeom>
          <a:noFill/>
          <a:ln/>
        </p:spPr>
        <p:txBody>
          <a:bodyPr wrap="square" lIns="25400" tIns="25400" rIns="25400" bIns="25400" rtlCol="0" anchor="t">
            <a:normAutofit/>
          </a:bodyPr>
          <a:lstStyle/>
          <a:p>
            <a:pPr algn="l" indent="0" marL="0">
              <a:lnSpc>
                <a:spcPct val="75273"/>
              </a:lnSpc>
              <a:buNone/>
            </a:pPr>
            <a:r>
              <a:rPr lang="en-US" sz="3000" dirty="0">
                <a:solidFill>
                  <a:srgbClr val="E8B44A"/>
                </a:solidFill>
                <a:latin typeface="Spectral" pitchFamily="34" charset="0"/>
                <a:ea typeface="Spectral" pitchFamily="34" charset="-122"/>
                <a:cs typeface="Spectral" pitchFamily="34" charset="-120"/>
              </a:rPr>
              <a:t>Market/Craft services and LangGraph Coach</a:t>
            </a:r>
            <a:endParaRPr lang="en-US" sz="3000" dirty="0"/>
          </a:p>
        </p:txBody>
      </p:sp>
      <p:sp>
        <p:nvSpPr>
          <p:cNvPr id="14" name="Text 12"/>
          <p:cNvSpPr/>
          <p:nvPr/>
        </p:nvSpPr>
        <p:spPr>
          <a:xfrm>
            <a:off x="9087115" y="3757910"/>
            <a:ext cx="4173486" cy="758097"/>
          </a:xfrm>
          <a:prstGeom prst="rect">
            <a:avLst/>
          </a:prstGeom>
          <a:noFill/>
          <a:ln/>
        </p:spPr>
        <p:txBody>
          <a:bodyPr wrap="square" lIns="25400" tIns="25400" rIns="25400" bIns="25400" rtlCol="0" anchor="t">
            <a:normAutofit/>
          </a:bodyPr>
          <a:lstStyle/>
          <a:p>
            <a:pPr algn="l" indent="0" marL="0">
              <a:lnSpc>
                <a:spcPct val="106312"/>
              </a:lnSpc>
              <a:buNone/>
            </a:pPr>
            <a:r>
              <a:rPr lang="en-US" sz="2025" dirty="0">
                <a:solidFill>
                  <a:srgbClr val="9B988F"/>
                </a:solidFill>
                <a:latin typeface="IBM Plex Sans" pitchFamily="34" charset="0"/>
                <a:ea typeface="IBM Plex Sans" pitchFamily="34" charset="-122"/>
                <a:cs typeface="IBM Plex Sans" pitchFamily="34" charset="-120"/>
              </a:rPr>
              <a:t>guard → agent ↔ tools · OpenAI model</a:t>
            </a:r>
            <a:endParaRPr lang="en-US" sz="2025" dirty="0"/>
          </a:p>
        </p:txBody>
      </p:sp>
      <p:sp>
        <p:nvSpPr>
          <p:cNvPr id="15" name="Text 13"/>
          <p:cNvSpPr/>
          <p:nvPr/>
        </p:nvSpPr>
        <p:spPr>
          <a:xfrm>
            <a:off x="13549479" y="2414158"/>
            <a:ext cx="192121" cy="2417200"/>
          </a:xfrm>
          <a:prstGeom prst="rect">
            <a:avLst/>
          </a:prstGeom>
          <a:noFill/>
          <a:ln/>
        </p:spPr>
        <p:txBody>
          <a:bodyPr wrap="square" lIns="25400" tIns="25400" rIns="25400" bIns="25400" rtlCol="0" anchor="ctr">
            <a:normAutofit/>
          </a:bodyPr>
          <a:lstStyle/>
          <a:p>
            <a:pPr algn="l" indent="0" marL="0">
              <a:buNone/>
            </a:pPr>
            <a:r>
              <a:rPr lang="en-US" sz="3000" dirty="0">
                <a:solidFill>
                  <a:srgbClr val="5CC8DD"/>
                </a:solidFill>
                <a:latin typeface="IBM Plex Sans" pitchFamily="34" charset="0"/>
                <a:ea typeface="IBM Plex Sans" pitchFamily="34" charset="-122"/>
                <a:cs typeface="IBM Plex Sans" pitchFamily="34" charset="-120"/>
              </a:rPr>
              <a:t>›</a:t>
            </a:r>
            <a:endParaRPr lang="en-US" sz="3000" dirty="0"/>
          </a:p>
        </p:txBody>
      </p:sp>
      <p:sp>
        <p:nvSpPr>
          <p:cNvPr id="16" name="Shape 14"/>
          <p:cNvSpPr/>
          <p:nvPr/>
        </p:nvSpPr>
        <p:spPr>
          <a:xfrm>
            <a:off x="13817700" y="2414158"/>
            <a:ext cx="3517801" cy="2379100"/>
          </a:xfrm>
          <a:prstGeom prst="roundRect">
            <a:avLst>
              <a:gd name="adj" fmla="val 2402"/>
            </a:avLst>
          </a:prstGeom>
          <a:solidFill>
            <a:srgbClr val="12191D"/>
          </a:solidFill>
          <a:ln w="10583">
            <a:solidFill>
              <a:srgbClr val="24404A"/>
            </a:solidFill>
            <a:prstDash val="solid"/>
          </a:ln>
        </p:spPr>
      </p:sp>
      <p:sp>
        <p:nvSpPr>
          <p:cNvPr id="17" name="Text 15"/>
          <p:cNvSpPr/>
          <p:nvPr/>
        </p:nvSpPr>
        <p:spPr>
          <a:xfrm>
            <a:off x="14075834" y="2729508"/>
            <a:ext cx="3091579" cy="914202"/>
          </a:xfrm>
          <a:prstGeom prst="rect">
            <a:avLst/>
          </a:prstGeom>
          <a:noFill/>
          <a:ln/>
        </p:spPr>
        <p:txBody>
          <a:bodyPr wrap="square" lIns="25400" tIns="25400" rIns="25400" bIns="25400" rtlCol="0" anchor="t">
            <a:normAutofit/>
          </a:bodyPr>
          <a:lstStyle/>
          <a:p>
            <a:pPr algn="l" indent="0" marL="0">
              <a:lnSpc>
                <a:spcPct val="75273"/>
              </a:lnSpc>
              <a:buNone/>
            </a:pPr>
            <a:r>
              <a:rPr lang="en-US" sz="3000" dirty="0">
                <a:solidFill>
                  <a:srgbClr val="5CC8DD"/>
                </a:solidFill>
                <a:latin typeface="Spectral" pitchFamily="34" charset="0"/>
                <a:ea typeface="Spectral" pitchFamily="34" charset="-122"/>
                <a:cs typeface="Spectral" pitchFamily="34" charset="-120"/>
              </a:rPr>
              <a:t>Evidence-linked response</a:t>
            </a:r>
            <a:endParaRPr lang="en-US" sz="3000" dirty="0"/>
          </a:p>
        </p:txBody>
      </p:sp>
      <p:sp>
        <p:nvSpPr>
          <p:cNvPr id="18" name="Text 16"/>
          <p:cNvSpPr/>
          <p:nvPr/>
        </p:nvSpPr>
        <p:spPr>
          <a:xfrm>
            <a:off x="14075834" y="3757910"/>
            <a:ext cx="3091579" cy="758097"/>
          </a:xfrm>
          <a:prstGeom prst="rect">
            <a:avLst/>
          </a:prstGeom>
          <a:noFill/>
          <a:ln/>
        </p:spPr>
        <p:txBody>
          <a:bodyPr wrap="square" lIns="25400" tIns="25400" rIns="25400" bIns="25400" rtlCol="0" anchor="t">
            <a:normAutofit/>
          </a:bodyPr>
          <a:lstStyle/>
          <a:p>
            <a:pPr algn="l" indent="0" marL="0">
              <a:lnSpc>
                <a:spcPct val="106312"/>
              </a:lnSpc>
              <a:buNone/>
            </a:pPr>
            <a:r>
              <a:rPr lang="en-US" sz="2025" dirty="0">
                <a:solidFill>
                  <a:srgbClr val="9B988F"/>
                </a:solidFill>
                <a:latin typeface="IBM Plex Sans" pitchFamily="34" charset="0"/>
                <a:ea typeface="IBM Plex Sans" pitchFamily="34" charset="-122"/>
                <a:cs typeface="IBM Plex Sans" pitchFamily="34" charset="-120"/>
              </a:rPr>
              <a:t>Source cards, freshness, human verification</a:t>
            </a:r>
            <a:endParaRPr lang="en-US" sz="2025" dirty="0"/>
          </a:p>
        </p:txBody>
      </p:sp>
      <p:sp>
        <p:nvSpPr>
          <p:cNvPr id="19" name="Shape 17"/>
          <p:cNvSpPr/>
          <p:nvPr/>
        </p:nvSpPr>
        <p:spPr>
          <a:xfrm>
            <a:off x="952500" y="5709709"/>
            <a:ext cx="16383001" cy="10583"/>
          </a:xfrm>
          <a:prstGeom prst="rect">
            <a:avLst/>
          </a:prstGeom>
          <a:solidFill>
            <a:srgbClr val="2A2E35"/>
          </a:solidFill>
          <a:ln/>
        </p:spPr>
      </p:sp>
      <p:sp>
        <p:nvSpPr>
          <p:cNvPr id="20" name="Text 18"/>
          <p:cNvSpPr/>
          <p:nvPr/>
        </p:nvSpPr>
        <p:spPr>
          <a:xfrm>
            <a:off x="952500" y="5002775"/>
            <a:ext cx="304899" cy="535517"/>
          </a:xfrm>
          <a:prstGeom prst="rect">
            <a:avLst/>
          </a:prstGeom>
          <a:noFill/>
          <a:ln/>
        </p:spPr>
        <p:txBody>
          <a:bodyPr wrap="square" lIns="25400" tIns="25400" rIns="25400" bIns="25400" rtlCol="0" anchor="t">
            <a:normAutofit/>
          </a:bodyPr>
          <a:lstStyle/>
          <a:p>
            <a:pPr algn="l" indent="0" marL="0">
              <a:buNone/>
            </a:pPr>
            <a:r>
              <a:rPr lang="en-US" sz="3000" dirty="0">
                <a:solidFill>
                  <a:srgbClr val="5CC8DD"/>
                </a:solidFill>
                <a:latin typeface="IBM Plex Mono" pitchFamily="34" charset="0"/>
                <a:ea typeface="IBM Plex Mono" pitchFamily="34" charset="-122"/>
                <a:cs typeface="IBM Plex Mono" pitchFamily="34" charset="-120"/>
              </a:rPr>
              <a:t>‹</a:t>
            </a:r>
            <a:endParaRPr lang="en-US" sz="3000" dirty="0"/>
          </a:p>
        </p:txBody>
      </p:sp>
      <p:sp>
        <p:nvSpPr>
          <p:cNvPr id="21" name="Text 19"/>
          <p:cNvSpPr/>
          <p:nvPr/>
        </p:nvSpPr>
        <p:spPr>
          <a:xfrm>
            <a:off x="1352517" y="5082150"/>
            <a:ext cx="5511602" cy="376767"/>
          </a:xfrm>
          <a:prstGeom prst="rect">
            <a:avLst/>
          </a:prstGeom>
          <a:noFill/>
          <a:ln/>
        </p:spPr>
        <p:txBody>
          <a:bodyPr wrap="square" lIns="25400" tIns="25400" rIns="25400" bIns="25400" rtlCol="0" anchor="t">
            <a:normAutofit/>
          </a:bodyPr>
          <a:lstStyle/>
          <a:p>
            <a:pPr algn="l" indent="0" marL="0">
              <a:buNone/>
            </a:pPr>
            <a:r>
              <a:rPr lang="en-US" sz="2025" dirty="0">
                <a:solidFill>
                  <a:srgbClr val="9B988F"/>
                </a:solidFill>
                <a:latin typeface="IBM Plex Sans" pitchFamily="34" charset="0"/>
                <a:ea typeface="IBM Plex Sans" pitchFamily="34" charset="-122"/>
                <a:cs typeface="IBM Plex Sans" pitchFamily="34" charset="-120"/>
              </a:rPr>
              <a:t>back to the player, who verifies and decides</a:t>
            </a:r>
            <a:endParaRPr lang="en-US" sz="2025" dirty="0"/>
          </a:p>
        </p:txBody>
      </p:sp>
      <p:sp>
        <p:nvSpPr>
          <p:cNvPr id="22" name="Text 20"/>
          <p:cNvSpPr/>
          <p:nvPr/>
        </p:nvSpPr>
        <p:spPr>
          <a:xfrm>
            <a:off x="952500" y="5929809"/>
            <a:ext cx="304899" cy="535517"/>
          </a:xfrm>
          <a:prstGeom prst="rect">
            <a:avLst/>
          </a:prstGeom>
          <a:noFill/>
          <a:ln/>
        </p:spPr>
        <p:txBody>
          <a:bodyPr wrap="square" lIns="25400" tIns="25400" rIns="25400" bIns="25400" rtlCol="0" anchor="t">
            <a:normAutofit/>
          </a:bodyPr>
          <a:lstStyle/>
          <a:p>
            <a:pPr algn="l" indent="0" marL="0">
              <a:buNone/>
            </a:pPr>
            <a:r>
              <a:rPr lang="en-US" sz="3000" dirty="0">
                <a:solidFill>
                  <a:srgbClr val="A9843A"/>
                </a:solidFill>
                <a:latin typeface="IBM Plex Mono" pitchFamily="34" charset="0"/>
                <a:ea typeface="IBM Plex Mono" pitchFamily="34" charset="-122"/>
                <a:cs typeface="IBM Plex Mono" pitchFamily="34" charset="-120"/>
              </a:rPr>
              <a:t>↑</a:t>
            </a:r>
            <a:endParaRPr lang="en-US" sz="3000" dirty="0"/>
          </a:p>
        </p:txBody>
      </p:sp>
      <p:sp>
        <p:nvSpPr>
          <p:cNvPr id="23" name="Text 21"/>
          <p:cNvSpPr/>
          <p:nvPr/>
        </p:nvSpPr>
        <p:spPr>
          <a:xfrm>
            <a:off x="1409733" y="6009184"/>
            <a:ext cx="6359988" cy="376767"/>
          </a:xfrm>
          <a:prstGeom prst="rect">
            <a:avLst/>
          </a:prstGeom>
          <a:noFill/>
          <a:ln/>
        </p:spPr>
        <p:txBody>
          <a:bodyPr wrap="square" lIns="25400" tIns="25400" rIns="25400" bIns="25400" rtlCol="0" anchor="t">
            <a:normAutofit/>
          </a:bodyPr>
          <a:lstStyle/>
          <a:p>
            <a:pPr algn="l" indent="0" marL="0">
              <a:buNone/>
            </a:pPr>
            <a:r>
              <a:rPr lang="en-US" sz="2025" dirty="0">
                <a:solidFill>
                  <a:srgbClr val="9B988F"/>
                </a:solidFill>
                <a:latin typeface="IBM Plex Sans" pitchFamily="34" charset="0"/>
                <a:ea typeface="IBM Plex Sans" pitchFamily="34" charset="-122"/>
                <a:cs typeface="IBM Plex Sans" pitchFamily="34" charset="-120"/>
              </a:rPr>
              <a:t>feeds the services and the Coach on every request</a:t>
            </a:r>
            <a:endParaRPr lang="en-US" sz="2025" dirty="0"/>
          </a:p>
        </p:txBody>
      </p:sp>
      <p:sp>
        <p:nvSpPr>
          <p:cNvPr id="24" name="Shape 22"/>
          <p:cNvSpPr/>
          <p:nvPr/>
        </p:nvSpPr>
        <p:spPr>
          <a:xfrm>
            <a:off x="952500" y="6636743"/>
            <a:ext cx="16383001" cy="1547813"/>
          </a:xfrm>
          <a:prstGeom prst="roundRect">
            <a:avLst>
              <a:gd name="adj" fmla="val 3692"/>
            </a:avLst>
          </a:prstGeom>
          <a:solidFill>
            <a:srgbClr val="131519"/>
          </a:solidFill>
          <a:ln w="10583">
            <a:solidFill>
              <a:srgbClr val="2A2E35"/>
            </a:solidFill>
            <a:prstDash val="solid"/>
          </a:ln>
        </p:spPr>
      </p:sp>
      <p:sp>
        <p:nvSpPr>
          <p:cNvPr id="25" name="Text 23"/>
          <p:cNvSpPr/>
          <p:nvPr/>
        </p:nvSpPr>
        <p:spPr>
          <a:xfrm>
            <a:off x="1267850" y="6971110"/>
            <a:ext cx="17327530" cy="334433"/>
          </a:xfrm>
          <a:prstGeom prst="rect">
            <a:avLst/>
          </a:prstGeom>
          <a:noFill/>
          <a:ln/>
        </p:spPr>
        <p:txBody>
          <a:bodyPr wrap="square" lIns="25400" tIns="25400" rIns="25400" bIns="25400" rtlCol="0" anchor="t">
            <a:normAutofit/>
          </a:bodyPr>
          <a:lstStyle/>
          <a:p>
            <a:pPr algn="l" indent="0" marL="0">
              <a:buNone/>
            </a:pPr>
            <a:r>
              <a:rPr lang="en-US" sz="1800" spc="288" kern="0" dirty="0">
                <a:solidFill>
                  <a:srgbClr val="A9843A"/>
                </a:solidFill>
                <a:latin typeface="IBM Plex Sans" pitchFamily="34" charset="0"/>
                <a:ea typeface="IBM Plex Sans" pitchFamily="34" charset="-122"/>
                <a:cs typeface="IBM Plex Sans" pitchFamily="34" charset="-120"/>
              </a:rPr>
              <a:t>GROUNDING LAYER</a:t>
            </a:r>
            <a:endParaRPr lang="en-US" sz="1800" dirty="0"/>
          </a:p>
        </p:txBody>
      </p:sp>
      <p:sp>
        <p:nvSpPr>
          <p:cNvPr id="26" name="Text 24"/>
          <p:cNvSpPr/>
          <p:nvPr/>
        </p:nvSpPr>
        <p:spPr>
          <a:xfrm>
            <a:off x="1267850" y="7438760"/>
            <a:ext cx="17327530" cy="449527"/>
          </a:xfrm>
          <a:prstGeom prst="rect">
            <a:avLst/>
          </a:prstGeom>
          <a:noFill/>
          <a:ln/>
        </p:spPr>
        <p:txBody>
          <a:bodyPr wrap="square" lIns="25400" tIns="25400" rIns="25400" bIns="25400" rtlCol="0" anchor="t">
            <a:normAutofit/>
          </a:bodyPr>
          <a:lstStyle/>
          <a:p>
            <a:pPr algn="l" indent="0" marL="0">
              <a:lnSpc>
                <a:spcPct val="102316"/>
              </a:lnSpc>
              <a:buNone/>
            </a:pPr>
            <a:r>
              <a:rPr lang="en-US" sz="2400" dirty="0">
                <a:solidFill>
                  <a:srgbClr val="F4F1EA"/>
                </a:solidFill>
                <a:latin typeface="IBM Plex Sans" pitchFamily="34" charset="0"/>
                <a:ea typeface="IBM Plex Sans" pitchFamily="34" charset="-122"/>
                <a:cs typeface="IBM Plex Sans" pitchFamily="34" charset="-120"/>
              </a:rPr>
              <a:t>Market history · curated knowledge · versioned RePoE · external observations</a:t>
            </a:r>
            <a:endParaRPr lang="en-US" sz="2400" dirty="0"/>
          </a:p>
        </p:txBody>
      </p:sp>
      <p:sp>
        <p:nvSpPr>
          <p:cNvPr id="27" name="Shape 25"/>
          <p:cNvSpPr/>
          <p:nvPr/>
        </p:nvSpPr>
        <p:spPr>
          <a:xfrm>
            <a:off x="952500" y="8947217"/>
            <a:ext cx="16383001" cy="10583"/>
          </a:xfrm>
          <a:prstGeom prst="rect">
            <a:avLst/>
          </a:prstGeom>
          <a:solidFill>
            <a:srgbClr val="2A2E35"/>
          </a:solidFill>
          <a:ln/>
        </p:spPr>
      </p:sp>
      <p:sp>
        <p:nvSpPr>
          <p:cNvPr id="28" name="Text 26"/>
          <p:cNvSpPr/>
          <p:nvPr/>
        </p:nvSpPr>
        <p:spPr>
          <a:xfrm>
            <a:off x="952500" y="9186400"/>
            <a:ext cx="16874491" cy="376701"/>
          </a:xfrm>
          <a:prstGeom prst="rect">
            <a:avLst/>
          </a:prstGeom>
          <a:noFill/>
          <a:ln/>
        </p:spPr>
        <p:txBody>
          <a:bodyPr wrap="square" lIns="25400" tIns="25400" rIns="25400" bIns="25400" rtlCol="0" anchor="t">
            <a:normAutofit/>
          </a:bodyPr>
          <a:lstStyle/>
          <a:p>
            <a:pPr algn="l" indent="0" marL="0">
              <a:buNone/>
            </a:pPr>
            <a:r>
              <a:rPr lang="en-US" sz="2025" dirty="0">
                <a:solidFill>
                  <a:srgbClr val="9B988F"/>
                </a:solidFill>
                <a:latin typeface="IBM Plex Sans" pitchFamily="34" charset="0"/>
                <a:ea typeface="IBM Plex Sans" pitchFamily="34" charset="-122"/>
                <a:cs typeface="IBM Plex Sans" pitchFamily="34" charset="-120"/>
              </a:rPr>
              <a:t>Guardrails, rate limiting and citation validation run before the answer reaches the player.</a:t>
            </a:r>
            <a:endParaRPr lang="en-US" sz="2025"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4161A"/>
        </a:solidFill>
      </p:bgPr>
    </p:bg>
    <p:spTree>
      <p:nvGrpSpPr>
        <p:cNvPr id="1" name=""/>
        <p:cNvGrpSpPr/>
        <p:nvPr/>
      </p:nvGrpSpPr>
      <p:grpSpPr>
        <a:xfrm>
          <a:off x="0" y="0"/>
          <a:ext cx="0" cy="0"/>
          <a:chOff x="0" y="0"/>
          <a:chExt cx="0" cy="0"/>
        </a:xfrm>
      </p:grpSpPr>
      <p:sp>
        <p:nvSpPr>
          <p:cNvPr id="2" name="Text 0"/>
          <p:cNvSpPr/>
          <p:nvPr/>
        </p:nvSpPr>
        <p:spPr>
          <a:xfrm>
            <a:off x="952500" y="838068"/>
            <a:ext cx="8161536" cy="334433"/>
          </a:xfrm>
          <a:prstGeom prst="rect">
            <a:avLst/>
          </a:prstGeom>
          <a:noFill/>
          <a:ln/>
        </p:spPr>
        <p:txBody>
          <a:bodyPr wrap="square" lIns="25400" tIns="25400" rIns="25400" bIns="25400" rtlCol="0" anchor="t">
            <a:normAutofit/>
          </a:bodyPr>
          <a:lstStyle/>
          <a:p>
            <a:pPr algn="l" indent="0" marL="0">
              <a:buNone/>
            </a:pPr>
            <a:r>
              <a:rPr lang="en-US" sz="1800" spc="360" kern="0" dirty="0">
                <a:solidFill>
                  <a:srgbClr val="A9843A"/>
                </a:solidFill>
                <a:latin typeface="IBM Plex Sans" pitchFamily="34" charset="0"/>
                <a:ea typeface="IBM Plex Sans" pitchFamily="34" charset="-122"/>
                <a:cs typeface="IBM Plex Sans" pitchFamily="34" charset="-120"/>
              </a:rPr>
              <a:t>EVALUATION EVIDENCE</a:t>
            </a:r>
            <a:endParaRPr lang="en-US" sz="1800" dirty="0"/>
          </a:p>
        </p:txBody>
      </p:sp>
      <p:sp>
        <p:nvSpPr>
          <p:cNvPr id="3" name="Text 1"/>
          <p:cNvSpPr/>
          <p:nvPr/>
        </p:nvSpPr>
        <p:spPr>
          <a:xfrm>
            <a:off x="952500" y="1286702"/>
            <a:ext cx="7642166" cy="1378876"/>
          </a:xfrm>
          <a:prstGeom prst="rect">
            <a:avLst/>
          </a:prstGeom>
          <a:noFill/>
          <a:ln/>
        </p:spPr>
        <p:txBody>
          <a:bodyPr wrap="square" lIns="25400" tIns="25400" rIns="25400" bIns="25400" rtlCol="0" anchor="t">
            <a:normAutofit/>
          </a:bodyPr>
          <a:lstStyle/>
          <a:p>
            <a:pPr algn="l" indent="0" marL="0">
              <a:lnSpc>
                <a:spcPct val="72000"/>
              </a:lnSpc>
              <a:buNone/>
            </a:pPr>
            <a:r>
              <a:rPr lang="en-US" sz="4800" b="1" dirty="0">
                <a:solidFill>
                  <a:srgbClr val="F4F1EA"/>
                </a:solidFill>
                <a:latin typeface="Spectral" pitchFamily="34" charset="0"/>
                <a:ea typeface="Spectral" pitchFamily="34" charset="-122"/>
                <a:cs typeface="Spectral" pitchFamily="34" charset="-120"/>
              </a:rPr>
              <a:t>Three frozen evaluation sets</a:t>
            </a:r>
            <a:endParaRPr lang="en-US" sz="4800" dirty="0"/>
          </a:p>
        </p:txBody>
      </p:sp>
      <p:sp>
        <p:nvSpPr>
          <p:cNvPr id="4" name="Shape 2"/>
          <p:cNvSpPr/>
          <p:nvPr/>
        </p:nvSpPr>
        <p:spPr>
          <a:xfrm>
            <a:off x="8943579" y="2081444"/>
            <a:ext cx="8391922" cy="546034"/>
          </a:xfrm>
          <a:prstGeom prst="roundRect">
            <a:avLst>
              <a:gd name="adj" fmla="val 5233"/>
            </a:avLst>
          </a:prstGeom>
          <a:solidFill>
            <a:srgbClr val="12191D"/>
          </a:solidFill>
          <a:ln w="10583">
            <a:solidFill>
              <a:srgbClr val="24404A"/>
            </a:solidFill>
            <a:prstDash val="solid"/>
          </a:ln>
        </p:spPr>
      </p:sp>
      <p:sp>
        <p:nvSpPr>
          <p:cNvPr id="5" name="Text 3"/>
          <p:cNvSpPr/>
          <p:nvPr/>
        </p:nvSpPr>
        <p:spPr>
          <a:xfrm>
            <a:off x="9163712" y="2206327"/>
            <a:ext cx="8203413" cy="334367"/>
          </a:xfrm>
          <a:prstGeom prst="rect">
            <a:avLst/>
          </a:prstGeom>
          <a:noFill/>
          <a:ln/>
        </p:spPr>
        <p:txBody>
          <a:bodyPr wrap="none" lIns="25400" tIns="25400" rIns="25400" bIns="25400" rtlCol="0" anchor="t">
            <a:normAutofit/>
          </a:bodyPr>
          <a:lstStyle/>
          <a:p>
            <a:pPr algn="l" indent="0" marL="0">
              <a:buNone/>
            </a:pPr>
            <a:r>
              <a:rPr lang="en-US" sz="1800" dirty="0">
                <a:solidFill>
                  <a:srgbClr val="5CC8DD"/>
                </a:solidFill>
                <a:latin typeface="IBM Plex Mono" pitchFamily="34" charset="0"/>
                <a:ea typeface="IBM Plex Mono" pitchFamily="34" charset="-122"/>
                <a:cs typeface="IBM Plex Mono" pitchFamily="34" charset="-120"/>
              </a:rPr>
              <a:t>Standalone certification prototype — small frozen datasets</a:t>
            </a:r>
            <a:endParaRPr lang="en-US" sz="1800" dirty="0"/>
          </a:p>
        </p:txBody>
      </p:sp>
      <p:sp>
        <p:nvSpPr>
          <p:cNvPr id="6" name="Shape 4"/>
          <p:cNvSpPr/>
          <p:nvPr/>
        </p:nvSpPr>
        <p:spPr>
          <a:xfrm>
            <a:off x="952500" y="3084546"/>
            <a:ext cx="5283233" cy="5210638"/>
          </a:xfrm>
          <a:prstGeom prst="roundRect">
            <a:avLst>
              <a:gd name="adj" fmla="val 1097"/>
            </a:avLst>
          </a:prstGeom>
          <a:solidFill>
            <a:srgbClr val="171A1F"/>
          </a:solidFill>
          <a:ln w="10583">
            <a:solidFill>
              <a:srgbClr val="2A2E35"/>
            </a:solidFill>
            <a:prstDash val="solid"/>
          </a:ln>
        </p:spPr>
      </p:sp>
      <p:sp>
        <p:nvSpPr>
          <p:cNvPr id="7" name="Text 5"/>
          <p:cNvSpPr/>
          <p:nvPr/>
        </p:nvSpPr>
        <p:spPr>
          <a:xfrm>
            <a:off x="1286867" y="3476129"/>
            <a:ext cx="1660211" cy="620183"/>
          </a:xfrm>
          <a:prstGeom prst="rect">
            <a:avLst/>
          </a:prstGeom>
          <a:noFill/>
          <a:ln/>
        </p:spPr>
        <p:txBody>
          <a:bodyPr wrap="square" lIns="25400" tIns="25400" rIns="25400" bIns="25400" rtlCol="0" anchor="t">
            <a:normAutofit/>
          </a:bodyPr>
          <a:lstStyle/>
          <a:p>
            <a:pPr algn="l" indent="0" marL="0">
              <a:buNone/>
            </a:pPr>
            <a:r>
              <a:rPr lang="en-US" sz="3000" dirty="0">
                <a:solidFill>
                  <a:srgbClr val="E8B44A"/>
                </a:solidFill>
                <a:latin typeface="Spectral" pitchFamily="34" charset="0"/>
                <a:ea typeface="Spectral" pitchFamily="34" charset="-122"/>
                <a:cs typeface="Spectral" pitchFamily="34" charset="-120"/>
              </a:rPr>
              <a:t>Retrieval</a:t>
            </a:r>
            <a:endParaRPr lang="en-US" sz="3000" dirty="0"/>
          </a:p>
        </p:txBody>
      </p:sp>
      <p:sp>
        <p:nvSpPr>
          <p:cNvPr id="8" name="Text 6"/>
          <p:cNvSpPr/>
          <p:nvPr/>
        </p:nvSpPr>
        <p:spPr>
          <a:xfrm>
            <a:off x="4666919" y="3613712"/>
            <a:ext cx="1357891" cy="376767"/>
          </a:xfrm>
          <a:prstGeom prst="rect">
            <a:avLst/>
          </a:prstGeom>
          <a:noFill/>
          <a:ln/>
        </p:spPr>
        <p:txBody>
          <a:bodyPr wrap="square" lIns="25400" tIns="25400" rIns="25400" bIns="25400" rtlCol="0" anchor="t">
            <a:normAutofit/>
          </a:bodyPr>
          <a:lstStyle/>
          <a:p>
            <a:pPr algn="l" indent="0" marL="0">
              <a:buNone/>
            </a:pPr>
            <a:r>
              <a:rPr lang="en-US" sz="2025" dirty="0">
                <a:solidFill>
                  <a:srgbClr val="9B988F"/>
                </a:solidFill>
                <a:latin typeface="IBM Plex Mono" pitchFamily="34" charset="0"/>
                <a:ea typeface="IBM Plex Mono" pitchFamily="34" charset="-122"/>
                <a:cs typeface="IBM Plex Mono" pitchFamily="34" charset="-120"/>
              </a:rPr>
              <a:t>18 cases</a:t>
            </a:r>
            <a:endParaRPr lang="en-US" sz="2025" dirty="0"/>
          </a:p>
        </p:txBody>
      </p:sp>
      <p:sp>
        <p:nvSpPr>
          <p:cNvPr id="9" name="Text 7"/>
          <p:cNvSpPr/>
          <p:nvPr/>
        </p:nvSpPr>
        <p:spPr>
          <a:xfrm>
            <a:off x="1286867" y="4343962"/>
            <a:ext cx="5075949" cy="647634"/>
          </a:xfrm>
          <a:prstGeom prst="rect">
            <a:avLst/>
          </a:prstGeom>
          <a:noFill/>
          <a:ln/>
        </p:spPr>
        <p:txBody>
          <a:bodyPr wrap="square" lIns="25400" tIns="25400" rIns="25400" bIns="25400" rtlCol="0" anchor="t">
            <a:normAutofit/>
          </a:bodyPr>
          <a:lstStyle/>
          <a:p>
            <a:pPr algn="l" indent="0" marL="0">
              <a:lnSpc>
                <a:spcPct val="76800"/>
              </a:lnSpc>
              <a:buNone/>
            </a:pPr>
            <a:r>
              <a:rPr lang="en-US" sz="4800" dirty="0">
                <a:solidFill>
                  <a:srgbClr val="F4F1EA"/>
                </a:solidFill>
                <a:latin typeface="IBM Plex Mono" pitchFamily="34" charset="0"/>
                <a:ea typeface="IBM Plex Mono" pitchFamily="34" charset="-122"/>
                <a:cs typeface="IBM Plex Mono" pitchFamily="34" charset="-120"/>
              </a:rPr>
              <a:t>94.44%</a:t>
            </a:r>
            <a:endParaRPr lang="en-US" sz="4800" dirty="0"/>
          </a:p>
        </p:txBody>
      </p:sp>
      <p:sp>
        <p:nvSpPr>
          <p:cNvPr id="10" name="Text 8"/>
          <p:cNvSpPr/>
          <p:nvPr/>
        </p:nvSpPr>
        <p:spPr>
          <a:xfrm>
            <a:off x="1286867" y="5029564"/>
            <a:ext cx="5075949" cy="385200"/>
          </a:xfrm>
          <a:prstGeom prst="rect">
            <a:avLst/>
          </a:prstGeom>
          <a:noFill/>
          <a:ln/>
        </p:spPr>
        <p:txBody>
          <a:bodyPr wrap="square" lIns="25400" tIns="25400" rIns="25400" bIns="25400" rtlCol="0" anchor="t">
            <a:normAutofit/>
          </a:bodyPr>
          <a:lstStyle/>
          <a:p>
            <a:pPr algn="l" indent="0" marL="0">
              <a:lnSpc>
                <a:spcPct val="102516"/>
              </a:lnSpc>
              <a:buNone/>
            </a:pPr>
            <a:r>
              <a:rPr lang="en-US" sz="2025" dirty="0">
                <a:solidFill>
                  <a:srgbClr val="9B988F"/>
                </a:solidFill>
                <a:latin typeface="IBM Plex Sans" pitchFamily="34" charset="0"/>
                <a:ea typeface="IBM Plex Sans" pitchFamily="34" charset="-122"/>
                <a:cs typeface="IBM Plex Sans" pitchFamily="34" charset="-120"/>
              </a:rPr>
              <a:t>hit@4 — same for dense and hybrid</a:t>
            </a:r>
            <a:endParaRPr lang="en-US" sz="2025" dirty="0"/>
          </a:p>
        </p:txBody>
      </p:sp>
      <p:sp>
        <p:nvSpPr>
          <p:cNvPr id="11" name="Text 9"/>
          <p:cNvSpPr/>
          <p:nvPr/>
        </p:nvSpPr>
        <p:spPr>
          <a:xfrm>
            <a:off x="1286867" y="5662414"/>
            <a:ext cx="5075949" cy="419100"/>
          </a:xfrm>
          <a:prstGeom prst="rect">
            <a:avLst/>
          </a:prstGeom>
          <a:noFill/>
          <a:ln/>
        </p:spPr>
        <p:txBody>
          <a:bodyPr wrap="square" lIns="25400" tIns="25400" rIns="25400" bIns="25400" rtlCol="0" anchor="t">
            <a:normAutofit/>
          </a:bodyPr>
          <a:lstStyle/>
          <a:p>
            <a:pPr algn="l" indent="0" marL="0">
              <a:lnSpc>
                <a:spcPct val="76596"/>
              </a:lnSpc>
              <a:buNone/>
            </a:pPr>
            <a:r>
              <a:rPr lang="en-US" sz="3000" dirty="0">
                <a:solidFill>
                  <a:srgbClr val="F4F1EA"/>
                </a:solidFill>
                <a:latin typeface="IBM Plex Mono" pitchFamily="34" charset="0"/>
                <a:ea typeface="IBM Plex Mono" pitchFamily="34" charset="-122"/>
                <a:cs typeface="IBM Plex Mono" pitchFamily="34" charset="-120"/>
              </a:rPr>
              <a:t>0.7176 › 0.7222</a:t>
            </a:r>
            <a:endParaRPr lang="en-US" sz="3000" dirty="0"/>
          </a:p>
        </p:txBody>
      </p:sp>
      <p:sp>
        <p:nvSpPr>
          <p:cNvPr id="12" name="Text 10"/>
          <p:cNvSpPr/>
          <p:nvPr/>
        </p:nvSpPr>
        <p:spPr>
          <a:xfrm>
            <a:off x="1286867" y="6119482"/>
            <a:ext cx="4752934" cy="1079401"/>
          </a:xfrm>
          <a:prstGeom prst="rect">
            <a:avLst/>
          </a:prstGeom>
          <a:noFill/>
          <a:ln/>
        </p:spPr>
        <p:txBody>
          <a:bodyPr wrap="square" lIns="25400" tIns="25400" rIns="25400" bIns="25400" rtlCol="0" anchor="t">
            <a:normAutofit/>
          </a:bodyPr>
          <a:lstStyle/>
          <a:p>
            <a:pPr algn="l" indent="0" marL="0">
              <a:lnSpc>
                <a:spcPct val="102516"/>
              </a:lnSpc>
              <a:buNone/>
            </a:pPr>
            <a:r>
              <a:rPr lang="en-US" sz="2025" dirty="0">
                <a:solidFill>
                  <a:srgbClr val="9B988F"/>
                </a:solidFill>
                <a:latin typeface="IBM Plex Sans" pitchFamily="34" charset="0"/>
                <a:ea typeface="IBM Plex Sans" pitchFamily="34" charset="-122"/>
                <a:cs typeface="IBM Plex Sans" pitchFamily="34" charset="-120"/>
              </a:rPr>
              <a:t>MRR, dense vs hybrid — better ranking, no extra coverage, slightly higher latency</a:t>
            </a:r>
            <a:endParaRPr lang="en-US" sz="2025" dirty="0"/>
          </a:p>
        </p:txBody>
      </p:sp>
      <p:sp>
        <p:nvSpPr>
          <p:cNvPr id="13" name="Shape 11"/>
          <p:cNvSpPr/>
          <p:nvPr/>
        </p:nvSpPr>
        <p:spPr>
          <a:xfrm>
            <a:off x="6502301" y="3084546"/>
            <a:ext cx="5283233" cy="5210638"/>
          </a:xfrm>
          <a:prstGeom prst="roundRect">
            <a:avLst>
              <a:gd name="adj" fmla="val 1097"/>
            </a:avLst>
          </a:prstGeom>
          <a:solidFill>
            <a:srgbClr val="171A1F"/>
          </a:solidFill>
          <a:ln w="10583">
            <a:solidFill>
              <a:srgbClr val="2A2E35"/>
            </a:solidFill>
            <a:prstDash val="solid"/>
          </a:ln>
        </p:spPr>
      </p:sp>
      <p:sp>
        <p:nvSpPr>
          <p:cNvPr id="14" name="Text 12"/>
          <p:cNvSpPr/>
          <p:nvPr/>
        </p:nvSpPr>
        <p:spPr>
          <a:xfrm>
            <a:off x="6836668" y="3476129"/>
            <a:ext cx="3077038" cy="620183"/>
          </a:xfrm>
          <a:prstGeom prst="rect">
            <a:avLst/>
          </a:prstGeom>
          <a:noFill/>
          <a:ln/>
        </p:spPr>
        <p:txBody>
          <a:bodyPr wrap="square" lIns="25400" tIns="25400" rIns="25400" bIns="25400" rtlCol="0" anchor="t">
            <a:normAutofit/>
          </a:bodyPr>
          <a:lstStyle/>
          <a:p>
            <a:pPr algn="l" indent="0" marL="0">
              <a:buNone/>
            </a:pPr>
            <a:r>
              <a:rPr lang="en-US" sz="3000" dirty="0">
                <a:solidFill>
                  <a:srgbClr val="E8B44A"/>
                </a:solidFill>
                <a:latin typeface="Spectral" pitchFamily="34" charset="0"/>
                <a:ea typeface="Spectral" pitchFamily="34" charset="-122"/>
                <a:cs typeface="Spectral" pitchFamily="34" charset="-120"/>
              </a:rPr>
              <a:t>Agent behaviour</a:t>
            </a:r>
            <a:endParaRPr lang="en-US" sz="3000" dirty="0"/>
          </a:p>
        </p:txBody>
      </p:sp>
      <p:sp>
        <p:nvSpPr>
          <p:cNvPr id="15" name="Text 13"/>
          <p:cNvSpPr/>
          <p:nvPr/>
        </p:nvSpPr>
        <p:spPr>
          <a:xfrm>
            <a:off x="10371005" y="3613712"/>
            <a:ext cx="1156362" cy="376767"/>
          </a:xfrm>
          <a:prstGeom prst="rect">
            <a:avLst/>
          </a:prstGeom>
          <a:noFill/>
          <a:ln/>
        </p:spPr>
        <p:txBody>
          <a:bodyPr wrap="square" lIns="25400" tIns="25400" rIns="25400" bIns="25400" rtlCol="0" anchor="t">
            <a:normAutofit/>
          </a:bodyPr>
          <a:lstStyle/>
          <a:p>
            <a:pPr algn="l" indent="0" marL="0">
              <a:buNone/>
            </a:pPr>
            <a:r>
              <a:rPr lang="en-US" sz="2025" dirty="0">
                <a:solidFill>
                  <a:srgbClr val="9B988F"/>
                </a:solidFill>
                <a:latin typeface="IBM Plex Mono" pitchFamily="34" charset="0"/>
                <a:ea typeface="IBM Plex Mono" pitchFamily="34" charset="-122"/>
                <a:cs typeface="IBM Plex Mono" pitchFamily="34" charset="-120"/>
              </a:rPr>
              <a:t>8 cases</a:t>
            </a:r>
            <a:endParaRPr lang="en-US" sz="2025" dirty="0"/>
          </a:p>
        </p:txBody>
      </p:sp>
      <p:sp>
        <p:nvSpPr>
          <p:cNvPr id="16" name="Text 14"/>
          <p:cNvSpPr/>
          <p:nvPr/>
        </p:nvSpPr>
        <p:spPr>
          <a:xfrm>
            <a:off x="6836668" y="4343962"/>
            <a:ext cx="5075949" cy="647634"/>
          </a:xfrm>
          <a:prstGeom prst="rect">
            <a:avLst/>
          </a:prstGeom>
          <a:noFill/>
          <a:ln/>
        </p:spPr>
        <p:txBody>
          <a:bodyPr wrap="square" lIns="25400" tIns="25400" rIns="25400" bIns="25400" rtlCol="0" anchor="t">
            <a:normAutofit/>
          </a:bodyPr>
          <a:lstStyle/>
          <a:p>
            <a:pPr algn="l" indent="0" marL="0">
              <a:lnSpc>
                <a:spcPct val="76800"/>
              </a:lnSpc>
              <a:buNone/>
            </a:pPr>
            <a:r>
              <a:rPr lang="en-US" sz="4800" dirty="0">
                <a:solidFill>
                  <a:srgbClr val="F4F1EA"/>
                </a:solidFill>
                <a:latin typeface="IBM Plex Mono" pitchFamily="34" charset="0"/>
                <a:ea typeface="IBM Plex Mono" pitchFamily="34" charset="-122"/>
                <a:cs typeface="IBM Plex Mono" pitchFamily="34" charset="-120"/>
              </a:rPr>
              <a:t>100%</a:t>
            </a:r>
            <a:endParaRPr lang="en-US" sz="4800" dirty="0"/>
          </a:p>
        </p:txBody>
      </p:sp>
      <p:sp>
        <p:nvSpPr>
          <p:cNvPr id="17" name="Text 15"/>
          <p:cNvSpPr/>
          <p:nvPr/>
        </p:nvSpPr>
        <p:spPr>
          <a:xfrm>
            <a:off x="6836668" y="5029564"/>
            <a:ext cx="5075949" cy="385200"/>
          </a:xfrm>
          <a:prstGeom prst="rect">
            <a:avLst/>
          </a:prstGeom>
          <a:noFill/>
          <a:ln/>
        </p:spPr>
        <p:txBody>
          <a:bodyPr wrap="square" lIns="25400" tIns="25400" rIns="25400" bIns="25400" rtlCol="0" anchor="t">
            <a:normAutofit/>
          </a:bodyPr>
          <a:lstStyle/>
          <a:p>
            <a:pPr algn="l" indent="0" marL="0">
              <a:lnSpc>
                <a:spcPct val="102516"/>
              </a:lnSpc>
              <a:buNone/>
            </a:pPr>
            <a:r>
              <a:rPr lang="en-US" sz="2025" dirty="0">
                <a:solidFill>
                  <a:srgbClr val="9B988F"/>
                </a:solidFill>
                <a:latin typeface="IBM Plex Sans" pitchFamily="34" charset="0"/>
                <a:ea typeface="IBM Plex Sans" pitchFamily="34" charset="-122"/>
                <a:cs typeface="IBM Plex Sans" pitchFamily="34" charset="-120"/>
              </a:rPr>
              <a:t>exact tool selection, 8 of 8 cases</a:t>
            </a:r>
            <a:endParaRPr lang="en-US" sz="2025" dirty="0"/>
          </a:p>
        </p:txBody>
      </p:sp>
      <p:sp>
        <p:nvSpPr>
          <p:cNvPr id="18" name="Text 16"/>
          <p:cNvSpPr/>
          <p:nvPr/>
        </p:nvSpPr>
        <p:spPr>
          <a:xfrm>
            <a:off x="6836668" y="5662414"/>
            <a:ext cx="5075949" cy="419100"/>
          </a:xfrm>
          <a:prstGeom prst="rect">
            <a:avLst/>
          </a:prstGeom>
          <a:noFill/>
          <a:ln/>
        </p:spPr>
        <p:txBody>
          <a:bodyPr wrap="square" lIns="25400" tIns="25400" rIns="25400" bIns="25400" rtlCol="0" anchor="t">
            <a:normAutofit/>
          </a:bodyPr>
          <a:lstStyle/>
          <a:p>
            <a:pPr algn="l" indent="0" marL="0">
              <a:lnSpc>
                <a:spcPct val="76596"/>
              </a:lnSpc>
              <a:buNone/>
            </a:pPr>
            <a:r>
              <a:rPr lang="en-US" sz="3000" dirty="0">
                <a:solidFill>
                  <a:srgbClr val="F4F1EA"/>
                </a:solidFill>
                <a:latin typeface="IBM Plex Mono" pitchFamily="34" charset="0"/>
                <a:ea typeface="IBM Plex Mono" pitchFamily="34" charset="-122"/>
                <a:cs typeface="IBM Plex Mono" pitchFamily="34" charset="-120"/>
              </a:rPr>
              <a:t>100%</a:t>
            </a:r>
            <a:endParaRPr lang="en-US" sz="3000" dirty="0"/>
          </a:p>
        </p:txBody>
      </p:sp>
      <p:sp>
        <p:nvSpPr>
          <p:cNvPr id="19" name="Text 17"/>
          <p:cNvSpPr/>
          <p:nvPr/>
        </p:nvSpPr>
        <p:spPr>
          <a:xfrm>
            <a:off x="6836668" y="6119482"/>
            <a:ext cx="5075949" cy="385200"/>
          </a:xfrm>
          <a:prstGeom prst="rect">
            <a:avLst/>
          </a:prstGeom>
          <a:noFill/>
          <a:ln/>
        </p:spPr>
        <p:txBody>
          <a:bodyPr wrap="square" lIns="25400" tIns="25400" rIns="25400" bIns="25400" rtlCol="0" anchor="t">
            <a:normAutofit/>
          </a:bodyPr>
          <a:lstStyle/>
          <a:p>
            <a:pPr algn="l" indent="0" marL="0">
              <a:lnSpc>
                <a:spcPct val="102516"/>
              </a:lnSpc>
              <a:buNone/>
            </a:pPr>
            <a:r>
              <a:rPr lang="en-US" sz="2025" dirty="0">
                <a:solidFill>
                  <a:srgbClr val="9B988F"/>
                </a:solidFill>
                <a:latin typeface="IBM Plex Sans" pitchFamily="34" charset="0"/>
                <a:ea typeface="IBM Plex Sans" pitchFamily="34" charset="-122"/>
                <a:cs typeface="IBM Plex Sans" pitchFamily="34" charset="-120"/>
              </a:rPr>
              <a:t>disclaimer compliance, 8 of 8 cases</a:t>
            </a:r>
            <a:endParaRPr lang="en-US" sz="2025" dirty="0"/>
          </a:p>
        </p:txBody>
      </p:sp>
      <p:sp>
        <p:nvSpPr>
          <p:cNvPr id="20" name="Text 18"/>
          <p:cNvSpPr/>
          <p:nvPr/>
        </p:nvSpPr>
        <p:spPr>
          <a:xfrm>
            <a:off x="6836668" y="6752333"/>
            <a:ext cx="5075949" cy="419100"/>
          </a:xfrm>
          <a:prstGeom prst="rect">
            <a:avLst/>
          </a:prstGeom>
          <a:noFill/>
          <a:ln/>
        </p:spPr>
        <p:txBody>
          <a:bodyPr wrap="square" lIns="25400" tIns="25400" rIns="25400" bIns="25400" rtlCol="0" anchor="t">
            <a:normAutofit/>
          </a:bodyPr>
          <a:lstStyle/>
          <a:p>
            <a:pPr algn="l" indent="0" marL="0">
              <a:lnSpc>
                <a:spcPct val="76596"/>
              </a:lnSpc>
              <a:buNone/>
            </a:pPr>
            <a:r>
              <a:rPr lang="en-US" sz="3000" dirty="0">
                <a:solidFill>
                  <a:srgbClr val="F4F1EA"/>
                </a:solidFill>
                <a:latin typeface="IBM Plex Mono" pitchFamily="34" charset="0"/>
                <a:ea typeface="IBM Plex Mono" pitchFamily="34" charset="-122"/>
                <a:cs typeface="IBM Plex Mono" pitchFamily="34" charset="-120"/>
              </a:rPr>
              <a:t>7 of 7</a:t>
            </a:r>
            <a:endParaRPr lang="en-US" sz="3000" dirty="0"/>
          </a:p>
        </p:txBody>
      </p:sp>
      <p:sp>
        <p:nvSpPr>
          <p:cNvPr id="21" name="Text 19"/>
          <p:cNvSpPr/>
          <p:nvPr/>
        </p:nvSpPr>
        <p:spPr>
          <a:xfrm>
            <a:off x="6836668" y="7209400"/>
            <a:ext cx="4752934" cy="732301"/>
          </a:xfrm>
          <a:prstGeom prst="rect">
            <a:avLst/>
          </a:prstGeom>
          <a:noFill/>
          <a:ln/>
        </p:spPr>
        <p:txBody>
          <a:bodyPr wrap="square" lIns="25400" tIns="25400" rIns="25400" bIns="25400" rtlCol="0" anchor="t">
            <a:normAutofit/>
          </a:bodyPr>
          <a:lstStyle/>
          <a:p>
            <a:pPr algn="l" indent="0" marL="0">
              <a:lnSpc>
                <a:spcPct val="102516"/>
              </a:lnSpc>
              <a:buNone/>
            </a:pPr>
            <a:r>
              <a:rPr lang="en-US" sz="2025" dirty="0">
                <a:solidFill>
                  <a:srgbClr val="9B988F"/>
                </a:solidFill>
                <a:latin typeface="IBM Plex Sans" pitchFamily="34" charset="0"/>
                <a:ea typeface="IBM Plex Sans" pitchFamily="34" charset="-122"/>
                <a:cs typeface="IBM Plex Sans" pitchFamily="34" charset="-120"/>
              </a:rPr>
              <a:t>grounded citations where citations were required</a:t>
            </a:r>
            <a:endParaRPr lang="en-US" sz="2025" dirty="0"/>
          </a:p>
        </p:txBody>
      </p:sp>
      <p:sp>
        <p:nvSpPr>
          <p:cNvPr id="22" name="Shape 20"/>
          <p:cNvSpPr/>
          <p:nvPr/>
        </p:nvSpPr>
        <p:spPr>
          <a:xfrm>
            <a:off x="12052102" y="3084546"/>
            <a:ext cx="5283398" cy="5210638"/>
          </a:xfrm>
          <a:prstGeom prst="roundRect">
            <a:avLst>
              <a:gd name="adj" fmla="val 1097"/>
            </a:avLst>
          </a:prstGeom>
          <a:solidFill>
            <a:srgbClr val="171A1F"/>
          </a:solidFill>
          <a:ln w="10583">
            <a:solidFill>
              <a:srgbClr val="2A2E35"/>
            </a:solidFill>
            <a:prstDash val="solid"/>
          </a:ln>
        </p:spPr>
      </p:sp>
      <p:sp>
        <p:nvSpPr>
          <p:cNvPr id="23" name="Text 21"/>
          <p:cNvSpPr/>
          <p:nvPr/>
        </p:nvSpPr>
        <p:spPr>
          <a:xfrm>
            <a:off x="12386470" y="3476129"/>
            <a:ext cx="1973626" cy="620183"/>
          </a:xfrm>
          <a:prstGeom prst="rect">
            <a:avLst/>
          </a:prstGeom>
          <a:noFill/>
          <a:ln/>
        </p:spPr>
        <p:txBody>
          <a:bodyPr wrap="square" lIns="25400" tIns="25400" rIns="25400" bIns="25400" rtlCol="0" anchor="t">
            <a:normAutofit/>
          </a:bodyPr>
          <a:lstStyle/>
          <a:p>
            <a:pPr algn="l" indent="0" marL="0">
              <a:buNone/>
            </a:pPr>
            <a:r>
              <a:rPr lang="en-US" sz="3000" dirty="0">
                <a:solidFill>
                  <a:srgbClr val="E8B44A"/>
                </a:solidFill>
                <a:latin typeface="Spectral" pitchFamily="34" charset="0"/>
                <a:ea typeface="Spectral" pitchFamily="34" charset="-122"/>
                <a:cs typeface="Spectral" pitchFamily="34" charset="-120"/>
              </a:rPr>
              <a:t>Guardrails</a:t>
            </a:r>
            <a:endParaRPr lang="en-US" sz="3000" dirty="0"/>
          </a:p>
        </p:txBody>
      </p:sp>
      <p:sp>
        <p:nvSpPr>
          <p:cNvPr id="24" name="Text 22"/>
          <p:cNvSpPr/>
          <p:nvPr/>
        </p:nvSpPr>
        <p:spPr>
          <a:xfrm>
            <a:off x="15766686" y="3613712"/>
            <a:ext cx="1357891" cy="376767"/>
          </a:xfrm>
          <a:prstGeom prst="rect">
            <a:avLst/>
          </a:prstGeom>
          <a:noFill/>
          <a:ln/>
        </p:spPr>
        <p:txBody>
          <a:bodyPr wrap="square" lIns="25400" tIns="25400" rIns="25400" bIns="25400" rtlCol="0" anchor="t">
            <a:normAutofit/>
          </a:bodyPr>
          <a:lstStyle/>
          <a:p>
            <a:pPr algn="l" indent="0" marL="0">
              <a:buNone/>
            </a:pPr>
            <a:r>
              <a:rPr lang="en-US" sz="2025" dirty="0">
                <a:solidFill>
                  <a:srgbClr val="9B988F"/>
                </a:solidFill>
                <a:latin typeface="IBM Plex Mono" pitchFamily="34" charset="0"/>
                <a:ea typeface="IBM Plex Mono" pitchFamily="34" charset="-122"/>
                <a:cs typeface="IBM Plex Mono" pitchFamily="34" charset="-120"/>
              </a:rPr>
              <a:t>19 cases</a:t>
            </a:r>
            <a:endParaRPr lang="en-US" sz="2025" dirty="0"/>
          </a:p>
        </p:txBody>
      </p:sp>
      <p:sp>
        <p:nvSpPr>
          <p:cNvPr id="25" name="Text 23"/>
          <p:cNvSpPr/>
          <p:nvPr/>
        </p:nvSpPr>
        <p:spPr>
          <a:xfrm>
            <a:off x="12386470" y="4343962"/>
            <a:ext cx="5076131" cy="647634"/>
          </a:xfrm>
          <a:prstGeom prst="rect">
            <a:avLst/>
          </a:prstGeom>
          <a:noFill/>
          <a:ln/>
        </p:spPr>
        <p:txBody>
          <a:bodyPr wrap="square" lIns="25400" tIns="25400" rIns="25400" bIns="25400" rtlCol="0" anchor="t">
            <a:normAutofit/>
          </a:bodyPr>
          <a:lstStyle/>
          <a:p>
            <a:pPr algn="l" indent="0" marL="0">
              <a:lnSpc>
                <a:spcPct val="76800"/>
              </a:lnSpc>
              <a:buNone/>
            </a:pPr>
            <a:r>
              <a:rPr lang="en-US" sz="4800" dirty="0">
                <a:solidFill>
                  <a:srgbClr val="F4F1EA"/>
                </a:solidFill>
                <a:latin typeface="IBM Plex Mono" pitchFamily="34" charset="0"/>
                <a:ea typeface="IBM Plex Mono" pitchFamily="34" charset="-122"/>
                <a:cs typeface="IBM Plex Mono" pitchFamily="34" charset="-120"/>
              </a:rPr>
              <a:t>0% › 100%</a:t>
            </a:r>
            <a:endParaRPr lang="en-US" sz="4800" dirty="0"/>
          </a:p>
        </p:txBody>
      </p:sp>
      <p:sp>
        <p:nvSpPr>
          <p:cNvPr id="26" name="Text 24"/>
          <p:cNvSpPr/>
          <p:nvPr/>
        </p:nvSpPr>
        <p:spPr>
          <a:xfrm>
            <a:off x="12386470" y="5029564"/>
            <a:ext cx="4753104" cy="732301"/>
          </a:xfrm>
          <a:prstGeom prst="rect">
            <a:avLst/>
          </a:prstGeom>
          <a:noFill/>
          <a:ln/>
        </p:spPr>
        <p:txBody>
          <a:bodyPr wrap="square" lIns="25400" tIns="25400" rIns="25400" bIns="25400" rtlCol="0" anchor="t">
            <a:normAutofit/>
          </a:bodyPr>
          <a:lstStyle/>
          <a:p>
            <a:pPr algn="l" indent="0" marL="0">
              <a:lnSpc>
                <a:spcPct val="102516"/>
              </a:lnSpc>
              <a:buNone/>
            </a:pPr>
            <a:r>
              <a:rPr lang="en-US" sz="2025" dirty="0">
                <a:solidFill>
                  <a:srgbClr val="9B988F"/>
                </a:solidFill>
                <a:latin typeface="IBM Plex Sans" pitchFamily="34" charset="0"/>
                <a:ea typeface="IBM Plex Sans" pitchFamily="34" charset="-122"/>
                <a:cs typeface="IBM Plex Sans" pitchFamily="34" charset="-120"/>
              </a:rPr>
              <a:t>attacks blocked, before vs after guardrails</a:t>
            </a:r>
            <a:endParaRPr lang="en-US" sz="2025" dirty="0"/>
          </a:p>
        </p:txBody>
      </p:sp>
      <p:sp>
        <p:nvSpPr>
          <p:cNvPr id="27" name="Text 25"/>
          <p:cNvSpPr/>
          <p:nvPr/>
        </p:nvSpPr>
        <p:spPr>
          <a:xfrm>
            <a:off x="12386470" y="6009515"/>
            <a:ext cx="5076131" cy="419100"/>
          </a:xfrm>
          <a:prstGeom prst="rect">
            <a:avLst/>
          </a:prstGeom>
          <a:noFill/>
          <a:ln/>
        </p:spPr>
        <p:txBody>
          <a:bodyPr wrap="square" lIns="25400" tIns="25400" rIns="25400" bIns="25400" rtlCol="0" anchor="t">
            <a:normAutofit/>
          </a:bodyPr>
          <a:lstStyle/>
          <a:p>
            <a:pPr algn="l" indent="0" marL="0">
              <a:lnSpc>
                <a:spcPct val="76596"/>
              </a:lnSpc>
              <a:buNone/>
            </a:pPr>
            <a:r>
              <a:rPr lang="en-US" sz="3000" dirty="0">
                <a:solidFill>
                  <a:srgbClr val="F4F1EA"/>
                </a:solidFill>
                <a:latin typeface="IBM Plex Mono" pitchFamily="34" charset="0"/>
                <a:ea typeface="IBM Plex Mono" pitchFamily="34" charset="-122"/>
                <a:cs typeface="IBM Plex Mono" pitchFamily="34" charset="-120"/>
              </a:rPr>
              <a:t>100%</a:t>
            </a:r>
            <a:endParaRPr lang="en-US" sz="3000" dirty="0"/>
          </a:p>
        </p:txBody>
      </p:sp>
      <p:sp>
        <p:nvSpPr>
          <p:cNvPr id="28" name="Text 26"/>
          <p:cNvSpPr/>
          <p:nvPr/>
        </p:nvSpPr>
        <p:spPr>
          <a:xfrm>
            <a:off x="12386470" y="6466583"/>
            <a:ext cx="5076131" cy="385200"/>
          </a:xfrm>
          <a:prstGeom prst="rect">
            <a:avLst/>
          </a:prstGeom>
          <a:noFill/>
          <a:ln/>
        </p:spPr>
        <p:txBody>
          <a:bodyPr wrap="square" lIns="25400" tIns="25400" rIns="25400" bIns="25400" rtlCol="0" anchor="t">
            <a:normAutofit/>
          </a:bodyPr>
          <a:lstStyle/>
          <a:p>
            <a:pPr algn="l" indent="0" marL="0">
              <a:lnSpc>
                <a:spcPct val="102516"/>
              </a:lnSpc>
              <a:buNone/>
            </a:pPr>
            <a:r>
              <a:rPr lang="en-US" sz="2025" dirty="0">
                <a:solidFill>
                  <a:srgbClr val="9B988F"/>
                </a:solidFill>
                <a:latin typeface="IBM Plex Sans" pitchFamily="34" charset="0"/>
                <a:ea typeface="IBM Plex Sans" pitchFamily="34" charset="-122"/>
                <a:cs typeface="IBM Plex Sans" pitchFamily="34" charset="-120"/>
              </a:rPr>
              <a:t>benign requests still allowed</a:t>
            </a:r>
            <a:endParaRPr lang="en-US" sz="2025" dirty="0"/>
          </a:p>
        </p:txBody>
      </p:sp>
      <p:sp>
        <p:nvSpPr>
          <p:cNvPr id="29" name="Shape 27"/>
          <p:cNvSpPr/>
          <p:nvPr/>
        </p:nvSpPr>
        <p:spPr>
          <a:xfrm>
            <a:off x="952500" y="8752252"/>
            <a:ext cx="16383001" cy="10583"/>
          </a:xfrm>
          <a:prstGeom prst="rect">
            <a:avLst/>
          </a:prstGeom>
          <a:solidFill>
            <a:srgbClr val="2A2E35"/>
          </a:solidFill>
          <a:ln/>
        </p:spPr>
      </p:sp>
      <p:sp>
        <p:nvSpPr>
          <p:cNvPr id="30" name="Text 28"/>
          <p:cNvSpPr/>
          <p:nvPr/>
        </p:nvSpPr>
        <p:spPr>
          <a:xfrm>
            <a:off x="952500" y="9029535"/>
            <a:ext cx="16874491" cy="715301"/>
          </a:xfrm>
          <a:prstGeom prst="rect">
            <a:avLst/>
          </a:prstGeom>
          <a:noFill/>
          <a:ln/>
        </p:spPr>
        <p:txBody>
          <a:bodyPr wrap="square" lIns="25400" tIns="25400" rIns="25400" bIns="25400" rtlCol="0" anchor="t">
            <a:normAutofit/>
          </a:bodyPr>
          <a:lstStyle/>
          <a:p>
            <a:pPr algn="l" indent="0" marL="0">
              <a:buNone/>
            </a:pPr>
            <a:r>
              <a:rPr lang="en-US" sz="2025" dirty="0">
                <a:solidFill>
                  <a:srgbClr val="9B988F"/>
                </a:solidFill>
                <a:latin typeface="IBM Plex Sans" pitchFamily="34" charset="0"/>
                <a:ea typeface="IBM Plex Sans" pitchFamily="34" charset="-122"/>
                <a:cs typeface="IBM Plex Sans" pitchFamily="34" charset="-120"/>
              </a:rPr>
              <a:t>Citation compliance means the cited source ID was valid — not that every statement is true. These results do not evaluate the integrated production deployment.</a:t>
            </a:r>
            <a:endParaRPr lang="en-US" sz="2025"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E0F12"/>
        </a:solidFill>
      </p:bgPr>
    </p:bg>
    <p:spTree>
      <p:nvGrpSpPr>
        <p:cNvPr id="1" name=""/>
        <p:cNvGrpSpPr/>
        <p:nvPr/>
      </p:nvGrpSpPr>
      <p:grpSpPr>
        <a:xfrm>
          <a:off x="0" y="0"/>
          <a:ext cx="0" cy="0"/>
          <a:chOff x="0" y="0"/>
          <a:chExt cx="0" cy="0"/>
        </a:xfrm>
      </p:grpSpPr>
      <p:sp>
        <p:nvSpPr>
          <p:cNvPr id="2" name="Text 0"/>
          <p:cNvSpPr/>
          <p:nvPr/>
        </p:nvSpPr>
        <p:spPr>
          <a:xfrm>
            <a:off x="952500" y="838068"/>
            <a:ext cx="18021301" cy="334433"/>
          </a:xfrm>
          <a:prstGeom prst="rect">
            <a:avLst/>
          </a:prstGeom>
          <a:noFill/>
          <a:ln/>
        </p:spPr>
        <p:txBody>
          <a:bodyPr wrap="square" lIns="25400" tIns="25400" rIns="25400" bIns="25400" rtlCol="0" anchor="t">
            <a:normAutofit/>
          </a:bodyPr>
          <a:lstStyle/>
          <a:p>
            <a:pPr algn="l" indent="0" marL="0">
              <a:buNone/>
            </a:pPr>
            <a:r>
              <a:rPr lang="en-US" sz="1800" spc="360" kern="0" dirty="0">
                <a:solidFill>
                  <a:srgbClr val="A9843A"/>
                </a:solidFill>
                <a:latin typeface="IBM Plex Sans" pitchFamily="34" charset="0"/>
                <a:ea typeface="IBM Plex Sans" pitchFamily="34" charset="-122"/>
                <a:cs typeface="IBM Plex Sans" pitchFamily="34" charset="-120"/>
              </a:rPr>
              <a:t>SAFETY AND HONEST BOUNDARIES</a:t>
            </a:r>
            <a:endParaRPr lang="en-US" sz="1800" dirty="0"/>
          </a:p>
        </p:txBody>
      </p:sp>
      <p:sp>
        <p:nvSpPr>
          <p:cNvPr id="3" name="Text 1"/>
          <p:cNvSpPr/>
          <p:nvPr/>
        </p:nvSpPr>
        <p:spPr>
          <a:xfrm>
            <a:off x="952500" y="1286702"/>
            <a:ext cx="18021301" cy="708488"/>
          </a:xfrm>
          <a:prstGeom prst="rect">
            <a:avLst/>
          </a:prstGeom>
          <a:noFill/>
          <a:ln/>
        </p:spPr>
        <p:txBody>
          <a:bodyPr wrap="square" lIns="25400" tIns="25400" rIns="25400" bIns="25400" rtlCol="0" anchor="t">
            <a:normAutofit/>
          </a:bodyPr>
          <a:lstStyle/>
          <a:p>
            <a:pPr algn="l" indent="0" marL="0">
              <a:lnSpc>
                <a:spcPct val="72000"/>
              </a:lnSpc>
              <a:buNone/>
            </a:pPr>
            <a:r>
              <a:rPr lang="en-US" sz="4800" b="1" dirty="0">
                <a:solidFill>
                  <a:srgbClr val="F4F1EA"/>
                </a:solidFill>
                <a:latin typeface="Spectral" pitchFamily="34" charset="0"/>
                <a:ea typeface="Spectral" pitchFamily="34" charset="-122"/>
                <a:cs typeface="Spectral" pitchFamily="34" charset="-120"/>
              </a:rPr>
              <a:t>What it does, what it does not</a:t>
            </a:r>
            <a:endParaRPr lang="en-US" sz="4800" dirty="0"/>
          </a:p>
        </p:txBody>
      </p:sp>
      <p:sp>
        <p:nvSpPr>
          <p:cNvPr id="4" name="Shape 2"/>
          <p:cNvSpPr/>
          <p:nvPr/>
        </p:nvSpPr>
        <p:spPr>
          <a:xfrm>
            <a:off x="952500" y="2881809"/>
            <a:ext cx="7943784" cy="10583"/>
          </a:xfrm>
          <a:prstGeom prst="rect">
            <a:avLst/>
          </a:prstGeom>
          <a:solidFill>
            <a:srgbClr val="A9843A"/>
          </a:solidFill>
          <a:ln/>
        </p:spPr>
      </p:sp>
      <p:sp>
        <p:nvSpPr>
          <p:cNvPr id="5" name="Text 3"/>
          <p:cNvSpPr/>
          <p:nvPr/>
        </p:nvSpPr>
        <p:spPr>
          <a:xfrm>
            <a:off x="952500" y="2414158"/>
            <a:ext cx="8182098" cy="334301"/>
          </a:xfrm>
          <a:prstGeom prst="rect">
            <a:avLst/>
          </a:prstGeom>
          <a:noFill/>
          <a:ln/>
        </p:spPr>
        <p:txBody>
          <a:bodyPr wrap="square" lIns="25400" tIns="25400" rIns="25400" bIns="25400" rtlCol="0" anchor="t">
            <a:normAutofit/>
          </a:bodyPr>
          <a:lstStyle/>
          <a:p>
            <a:pPr algn="l" indent="0" marL="0">
              <a:buNone/>
            </a:pPr>
            <a:r>
              <a:rPr lang="en-US" sz="1800" spc="288" kern="0" dirty="0">
                <a:solidFill>
                  <a:srgbClr val="E8B44A"/>
                </a:solidFill>
                <a:latin typeface="IBM Plex Sans" pitchFamily="34" charset="0"/>
                <a:ea typeface="IBM Plex Sans" pitchFamily="34" charset="-122"/>
                <a:cs typeface="IBM Plex Sans" pitchFamily="34" charset="-120"/>
              </a:rPr>
              <a:t>WHAT THE PRODUCT DOES</a:t>
            </a:r>
            <a:endParaRPr lang="en-US" sz="1800" dirty="0"/>
          </a:p>
        </p:txBody>
      </p:sp>
      <p:sp>
        <p:nvSpPr>
          <p:cNvPr id="6" name="Text 4"/>
          <p:cNvSpPr/>
          <p:nvPr/>
        </p:nvSpPr>
        <p:spPr>
          <a:xfrm>
            <a:off x="952500" y="3120926"/>
            <a:ext cx="8738163" cy="434148"/>
          </a:xfrm>
          <a:prstGeom prst="rect">
            <a:avLst/>
          </a:prstGeom>
          <a:noFill/>
          <a:ln/>
        </p:spPr>
        <p:txBody>
          <a:bodyPr wrap="square" lIns="25400" tIns="25400" rIns="25400" bIns="25400" rtlCol="0" anchor="t">
            <a:normAutofit/>
          </a:bodyPr>
          <a:lstStyle/>
          <a:p>
            <a:pPr algn="l" indent="0" marL="0">
              <a:lnSpc>
                <a:spcPct val="98526"/>
              </a:lnSpc>
              <a:buNone/>
            </a:pPr>
            <a:r>
              <a:rPr lang="en-US" sz="2400" dirty="0">
                <a:solidFill>
                  <a:srgbClr val="F4F1EA"/>
                </a:solidFill>
                <a:latin typeface="IBM Plex Sans" pitchFamily="34" charset="0"/>
                <a:ea typeface="IBM Plex Sans" pitchFamily="34" charset="-122"/>
                <a:cs typeface="IBM Plex Sans" pitchFamily="34" charset="-120"/>
              </a:rPr>
              <a:t>Decision support</a:t>
            </a:r>
            <a:endParaRPr lang="en-US" sz="2400" dirty="0"/>
          </a:p>
        </p:txBody>
      </p:sp>
      <p:sp>
        <p:nvSpPr>
          <p:cNvPr id="7" name="Text 5"/>
          <p:cNvSpPr/>
          <p:nvPr/>
        </p:nvSpPr>
        <p:spPr>
          <a:xfrm>
            <a:off x="952500" y="3745508"/>
            <a:ext cx="8738163" cy="434148"/>
          </a:xfrm>
          <a:prstGeom prst="rect">
            <a:avLst/>
          </a:prstGeom>
          <a:noFill/>
          <a:ln/>
        </p:spPr>
        <p:txBody>
          <a:bodyPr wrap="square" lIns="25400" tIns="25400" rIns="25400" bIns="25400" rtlCol="0" anchor="t">
            <a:normAutofit/>
          </a:bodyPr>
          <a:lstStyle/>
          <a:p>
            <a:pPr algn="l" indent="0" marL="0">
              <a:lnSpc>
                <a:spcPct val="98526"/>
              </a:lnSpc>
              <a:buNone/>
            </a:pPr>
            <a:r>
              <a:rPr lang="en-US" sz="2400" dirty="0">
                <a:solidFill>
                  <a:srgbClr val="F4F1EA"/>
                </a:solidFill>
                <a:latin typeface="IBM Plex Sans" pitchFamily="34" charset="0"/>
                <a:ea typeface="IBM Plex Sans" pitchFamily="34" charset="-122"/>
                <a:cs typeface="IBM Plex Sans" pitchFamily="34" charset="-120"/>
              </a:rPr>
              <a:t>Observed market data</a:t>
            </a:r>
            <a:endParaRPr lang="en-US" sz="2400" dirty="0"/>
          </a:p>
        </p:txBody>
      </p:sp>
      <p:sp>
        <p:nvSpPr>
          <p:cNvPr id="8" name="Text 6"/>
          <p:cNvSpPr/>
          <p:nvPr/>
        </p:nvSpPr>
        <p:spPr>
          <a:xfrm>
            <a:off x="952500" y="4370090"/>
            <a:ext cx="8738163" cy="434148"/>
          </a:xfrm>
          <a:prstGeom prst="rect">
            <a:avLst/>
          </a:prstGeom>
          <a:noFill/>
          <a:ln/>
        </p:spPr>
        <p:txBody>
          <a:bodyPr wrap="square" lIns="25400" tIns="25400" rIns="25400" bIns="25400" rtlCol="0" anchor="t">
            <a:normAutofit/>
          </a:bodyPr>
          <a:lstStyle/>
          <a:p>
            <a:pPr algn="l" indent="0" marL="0">
              <a:lnSpc>
                <a:spcPct val="98526"/>
              </a:lnSpc>
              <a:buNone/>
            </a:pPr>
            <a:r>
              <a:rPr lang="en-US" sz="2400" dirty="0">
                <a:solidFill>
                  <a:srgbClr val="F4F1EA"/>
                </a:solidFill>
                <a:latin typeface="IBM Plex Sans" pitchFamily="34" charset="0"/>
                <a:ea typeface="IBM Plex Sans" pitchFamily="34" charset="-122"/>
                <a:cs typeface="IBM Plex Sans" pitchFamily="34" charset="-120"/>
              </a:rPr>
              <a:t>Modeled expected value</a:t>
            </a:r>
            <a:endParaRPr lang="en-US" sz="2400" dirty="0"/>
          </a:p>
        </p:txBody>
      </p:sp>
      <p:sp>
        <p:nvSpPr>
          <p:cNvPr id="9" name="Text 7"/>
          <p:cNvSpPr/>
          <p:nvPr/>
        </p:nvSpPr>
        <p:spPr>
          <a:xfrm>
            <a:off x="952500" y="4994672"/>
            <a:ext cx="8738163" cy="434148"/>
          </a:xfrm>
          <a:prstGeom prst="rect">
            <a:avLst/>
          </a:prstGeom>
          <a:noFill/>
          <a:ln/>
        </p:spPr>
        <p:txBody>
          <a:bodyPr wrap="square" lIns="25400" tIns="25400" rIns="25400" bIns="25400" rtlCol="0" anchor="t">
            <a:normAutofit/>
          </a:bodyPr>
          <a:lstStyle/>
          <a:p>
            <a:pPr algn="l" indent="0" marL="0">
              <a:lnSpc>
                <a:spcPct val="98526"/>
              </a:lnSpc>
              <a:buNone/>
            </a:pPr>
            <a:r>
              <a:rPr lang="en-US" sz="2400" dirty="0">
                <a:solidFill>
                  <a:srgbClr val="F4F1EA"/>
                </a:solidFill>
                <a:latin typeface="IBM Plex Sans" pitchFamily="34" charset="0"/>
                <a:ea typeface="IBM Plex Sans" pitchFamily="34" charset="-122"/>
                <a:cs typeface="IBM Plex Sans" pitchFamily="34" charset="-120"/>
              </a:rPr>
              <a:t>Evidence-linked answers</a:t>
            </a:r>
            <a:endParaRPr lang="en-US" sz="2400" dirty="0"/>
          </a:p>
        </p:txBody>
      </p:sp>
      <p:sp>
        <p:nvSpPr>
          <p:cNvPr id="10" name="Text 8"/>
          <p:cNvSpPr/>
          <p:nvPr/>
        </p:nvSpPr>
        <p:spPr>
          <a:xfrm>
            <a:off x="952500" y="5619254"/>
            <a:ext cx="8738163" cy="434148"/>
          </a:xfrm>
          <a:prstGeom prst="rect">
            <a:avLst/>
          </a:prstGeom>
          <a:noFill/>
          <a:ln/>
        </p:spPr>
        <p:txBody>
          <a:bodyPr wrap="square" lIns="25400" tIns="25400" rIns="25400" bIns="25400" rtlCol="0" anchor="t">
            <a:normAutofit/>
          </a:bodyPr>
          <a:lstStyle/>
          <a:p>
            <a:pPr algn="l" indent="0" marL="0">
              <a:lnSpc>
                <a:spcPct val="98526"/>
              </a:lnSpc>
              <a:buNone/>
            </a:pPr>
            <a:r>
              <a:rPr lang="en-US" sz="2400" dirty="0">
                <a:solidFill>
                  <a:srgbClr val="F4F1EA"/>
                </a:solidFill>
                <a:latin typeface="IBM Plex Sans" pitchFamily="34" charset="0"/>
                <a:ea typeface="IBM Plex Sans" pitchFamily="34" charset="-122"/>
                <a:cs typeface="IBM Plex Sans" pitchFamily="34" charset="-120"/>
              </a:rPr>
              <a:t>Deterministic game-data lookups</a:t>
            </a:r>
            <a:endParaRPr lang="en-US" sz="2400" dirty="0"/>
          </a:p>
        </p:txBody>
      </p:sp>
      <p:sp>
        <p:nvSpPr>
          <p:cNvPr id="11" name="Shape 9"/>
          <p:cNvSpPr/>
          <p:nvPr/>
        </p:nvSpPr>
        <p:spPr>
          <a:xfrm>
            <a:off x="9391551" y="2881809"/>
            <a:ext cx="7943949" cy="10583"/>
          </a:xfrm>
          <a:prstGeom prst="rect">
            <a:avLst/>
          </a:prstGeom>
          <a:solidFill>
            <a:srgbClr val="2A2E35"/>
          </a:solidFill>
          <a:ln/>
        </p:spPr>
      </p:sp>
      <p:sp>
        <p:nvSpPr>
          <p:cNvPr id="12" name="Text 10"/>
          <p:cNvSpPr/>
          <p:nvPr/>
        </p:nvSpPr>
        <p:spPr>
          <a:xfrm>
            <a:off x="9391551" y="2414158"/>
            <a:ext cx="8182268" cy="334301"/>
          </a:xfrm>
          <a:prstGeom prst="rect">
            <a:avLst/>
          </a:prstGeom>
          <a:noFill/>
          <a:ln/>
        </p:spPr>
        <p:txBody>
          <a:bodyPr wrap="square" lIns="25400" tIns="25400" rIns="25400" bIns="25400" rtlCol="0" anchor="t">
            <a:normAutofit/>
          </a:bodyPr>
          <a:lstStyle/>
          <a:p>
            <a:pPr algn="l" indent="0" marL="0">
              <a:buNone/>
            </a:pPr>
            <a:r>
              <a:rPr lang="en-US" sz="1800" spc="288" kern="0" dirty="0">
                <a:solidFill>
                  <a:srgbClr val="9B988F"/>
                </a:solidFill>
                <a:latin typeface="IBM Plex Sans" pitchFamily="34" charset="0"/>
                <a:ea typeface="IBM Plex Sans" pitchFamily="34" charset="-122"/>
                <a:cs typeface="IBM Plex Sans" pitchFamily="34" charset="-120"/>
              </a:rPr>
              <a:t>WHAT IT DOES NOT DO</a:t>
            </a:r>
            <a:endParaRPr lang="en-US" sz="1800" dirty="0"/>
          </a:p>
        </p:txBody>
      </p:sp>
      <p:sp>
        <p:nvSpPr>
          <p:cNvPr id="13" name="Text 11"/>
          <p:cNvSpPr/>
          <p:nvPr/>
        </p:nvSpPr>
        <p:spPr>
          <a:xfrm>
            <a:off x="9391551" y="3120926"/>
            <a:ext cx="8738344" cy="434148"/>
          </a:xfrm>
          <a:prstGeom prst="rect">
            <a:avLst/>
          </a:prstGeom>
          <a:noFill/>
          <a:ln/>
        </p:spPr>
        <p:txBody>
          <a:bodyPr wrap="square" lIns="25400" tIns="25400" rIns="25400" bIns="25400" rtlCol="0" anchor="t">
            <a:normAutofit/>
          </a:bodyPr>
          <a:lstStyle/>
          <a:p>
            <a:pPr algn="l" indent="0" marL="0">
              <a:lnSpc>
                <a:spcPct val="98526"/>
              </a:lnSpc>
              <a:buNone/>
            </a:pPr>
            <a:r>
              <a:rPr lang="en-US" sz="2400" dirty="0">
                <a:solidFill>
                  <a:srgbClr val="9B988F"/>
                </a:solidFill>
                <a:latin typeface="IBM Plex Sans" pitchFamily="34" charset="0"/>
                <a:ea typeface="IBM Plex Sans" pitchFamily="34" charset="-122"/>
                <a:cs typeface="IBM Plex Sans" pitchFamily="34" charset="-120"/>
              </a:rPr>
              <a:t>No automation, trading or gameplay control</a:t>
            </a:r>
            <a:endParaRPr lang="en-US" sz="2400" dirty="0"/>
          </a:p>
        </p:txBody>
      </p:sp>
      <p:sp>
        <p:nvSpPr>
          <p:cNvPr id="14" name="Text 12"/>
          <p:cNvSpPr/>
          <p:nvPr/>
        </p:nvSpPr>
        <p:spPr>
          <a:xfrm>
            <a:off x="9391551" y="3745508"/>
            <a:ext cx="8738344" cy="434148"/>
          </a:xfrm>
          <a:prstGeom prst="rect">
            <a:avLst/>
          </a:prstGeom>
          <a:noFill/>
          <a:ln/>
        </p:spPr>
        <p:txBody>
          <a:bodyPr wrap="square" lIns="25400" tIns="25400" rIns="25400" bIns="25400" rtlCol="0" anchor="t">
            <a:normAutofit/>
          </a:bodyPr>
          <a:lstStyle/>
          <a:p>
            <a:pPr algn="l" indent="0" marL="0">
              <a:lnSpc>
                <a:spcPct val="98526"/>
              </a:lnSpc>
              <a:buNone/>
            </a:pPr>
            <a:r>
              <a:rPr lang="en-US" sz="2400" dirty="0">
                <a:solidFill>
                  <a:srgbClr val="9B988F"/>
                </a:solidFill>
                <a:latin typeface="IBM Plex Sans" pitchFamily="34" charset="0"/>
                <a:ea typeface="IBM Plex Sans" pitchFamily="34" charset="-122"/>
                <a:cs typeface="IBM Plex Sans" pitchFamily="34" charset="-120"/>
              </a:rPr>
              <a:t>No guaranteed execution or sale price</a:t>
            </a:r>
            <a:endParaRPr lang="en-US" sz="2400" dirty="0"/>
          </a:p>
        </p:txBody>
      </p:sp>
      <p:sp>
        <p:nvSpPr>
          <p:cNvPr id="15" name="Text 13"/>
          <p:cNvSpPr/>
          <p:nvPr/>
        </p:nvSpPr>
        <p:spPr>
          <a:xfrm>
            <a:off x="9391551" y="4370090"/>
            <a:ext cx="8738344" cy="434148"/>
          </a:xfrm>
          <a:prstGeom prst="rect">
            <a:avLst/>
          </a:prstGeom>
          <a:noFill/>
          <a:ln/>
        </p:spPr>
        <p:txBody>
          <a:bodyPr wrap="square" lIns="25400" tIns="25400" rIns="25400" bIns="25400" rtlCol="0" anchor="t">
            <a:normAutofit/>
          </a:bodyPr>
          <a:lstStyle/>
          <a:p>
            <a:pPr algn="l" indent="0" marL="0">
              <a:lnSpc>
                <a:spcPct val="98526"/>
              </a:lnSpc>
              <a:buNone/>
            </a:pPr>
            <a:r>
              <a:rPr lang="en-US" sz="2400" dirty="0">
                <a:solidFill>
                  <a:srgbClr val="9B988F"/>
                </a:solidFill>
                <a:latin typeface="IBM Plex Sans" pitchFamily="34" charset="0"/>
                <a:ea typeface="IBM Plex Sans" pitchFamily="34" charset="-122"/>
                <a:cs typeface="IBM Plex Sans" pitchFamily="34" charset="-120"/>
              </a:rPr>
              <a:t>No guaranteed profit or Divine per hour</a:t>
            </a:r>
            <a:endParaRPr lang="en-US" sz="2400" dirty="0"/>
          </a:p>
        </p:txBody>
      </p:sp>
      <p:sp>
        <p:nvSpPr>
          <p:cNvPr id="16" name="Text 14"/>
          <p:cNvSpPr/>
          <p:nvPr/>
        </p:nvSpPr>
        <p:spPr>
          <a:xfrm>
            <a:off x="9391551" y="4994672"/>
            <a:ext cx="8738344" cy="434148"/>
          </a:xfrm>
          <a:prstGeom prst="rect">
            <a:avLst/>
          </a:prstGeom>
          <a:noFill/>
          <a:ln/>
        </p:spPr>
        <p:txBody>
          <a:bodyPr wrap="square" lIns="25400" tIns="25400" rIns="25400" bIns="25400" rtlCol="0" anchor="t">
            <a:normAutofit/>
          </a:bodyPr>
          <a:lstStyle/>
          <a:p>
            <a:pPr algn="l" indent="0" marL="0">
              <a:lnSpc>
                <a:spcPct val="98526"/>
              </a:lnSpc>
              <a:buNone/>
            </a:pPr>
            <a:r>
              <a:rPr lang="en-US" sz="2400" dirty="0">
                <a:solidFill>
                  <a:srgbClr val="9B988F"/>
                </a:solidFill>
                <a:latin typeface="IBM Plex Sans" pitchFamily="34" charset="0"/>
                <a:ea typeface="IBM Plex Sans" pitchFamily="34" charset="-122"/>
                <a:cs typeface="IBM Plex Sans" pitchFamily="34" charset="-120"/>
              </a:rPr>
              <a:t>No guarantee that a cited claim is true</a:t>
            </a:r>
            <a:endParaRPr lang="en-US" sz="2400" dirty="0"/>
          </a:p>
        </p:txBody>
      </p:sp>
      <p:sp>
        <p:nvSpPr>
          <p:cNvPr id="17" name="Text 15"/>
          <p:cNvSpPr/>
          <p:nvPr/>
        </p:nvSpPr>
        <p:spPr>
          <a:xfrm>
            <a:off x="9391551" y="5619254"/>
            <a:ext cx="8738344" cy="434148"/>
          </a:xfrm>
          <a:prstGeom prst="rect">
            <a:avLst/>
          </a:prstGeom>
          <a:noFill/>
          <a:ln/>
        </p:spPr>
        <p:txBody>
          <a:bodyPr wrap="square" lIns="25400" tIns="25400" rIns="25400" bIns="25400" rtlCol="0" anchor="t">
            <a:normAutofit/>
          </a:bodyPr>
          <a:lstStyle/>
          <a:p>
            <a:pPr algn="l" indent="0" marL="0">
              <a:lnSpc>
                <a:spcPct val="98526"/>
              </a:lnSpc>
              <a:buNone/>
            </a:pPr>
            <a:r>
              <a:rPr lang="en-US" sz="2400" dirty="0">
                <a:solidFill>
                  <a:srgbClr val="9B988F"/>
                </a:solidFill>
                <a:latin typeface="IBM Plex Sans" pitchFamily="34" charset="0"/>
                <a:ea typeface="IBM Plex Sans" pitchFamily="34" charset="-122"/>
                <a:cs typeface="IBM Plex Sans" pitchFamily="34" charset="-120"/>
              </a:rPr>
              <a:t>Not yet a complete crafting planner</a:t>
            </a:r>
            <a:endParaRPr lang="en-US" sz="2400" dirty="0"/>
          </a:p>
        </p:txBody>
      </p:sp>
      <p:sp>
        <p:nvSpPr>
          <p:cNvPr id="18" name="Shape 16"/>
          <p:cNvSpPr/>
          <p:nvPr/>
        </p:nvSpPr>
        <p:spPr>
          <a:xfrm>
            <a:off x="952500" y="8627567"/>
            <a:ext cx="16383001" cy="10583"/>
          </a:xfrm>
          <a:prstGeom prst="rect">
            <a:avLst/>
          </a:prstGeom>
          <a:solidFill>
            <a:srgbClr val="2A2E35"/>
          </a:solidFill>
          <a:ln/>
        </p:spPr>
      </p:sp>
      <p:sp>
        <p:nvSpPr>
          <p:cNvPr id="19" name="Text 17"/>
          <p:cNvSpPr/>
          <p:nvPr/>
        </p:nvSpPr>
        <p:spPr>
          <a:xfrm>
            <a:off x="952500" y="8942950"/>
            <a:ext cx="16874491" cy="620150"/>
          </a:xfrm>
          <a:prstGeom prst="rect">
            <a:avLst/>
          </a:prstGeom>
          <a:noFill/>
          <a:ln/>
        </p:spPr>
        <p:txBody>
          <a:bodyPr wrap="square" lIns="25400" tIns="25400" rIns="25400" bIns="25400" rtlCol="0" anchor="t">
            <a:normAutofit/>
          </a:bodyPr>
          <a:lstStyle/>
          <a:p>
            <a:pPr algn="l" indent="0" marL="0">
              <a:buNone/>
            </a:pPr>
            <a:r>
              <a:rPr lang="en-US" sz="3000" dirty="0">
                <a:solidFill>
                  <a:srgbClr val="E8B44A"/>
                </a:solidFill>
                <a:latin typeface="Spectral" pitchFamily="34" charset="0"/>
                <a:ea typeface="Spectral" pitchFamily="34" charset="-122"/>
                <a:cs typeface="Spectral" pitchFamily="34" charset="-120"/>
              </a:rPr>
              <a:t>The human verifies prices and executes every action.</a:t>
            </a:r>
            <a:endParaRPr lang="en-US" sz="3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8288001" cy="10287000"/>
          </a:xfrm>
          <a:prstGeom prst="rect">
            <a:avLst/>
          </a:prstGeom>
          <a:gradFill rotWithShape="1">
            <a:gsLst>
              <a:gs pos="0">
                <a:srgbClr val="1B1A17">
                  <a:alpha val="100000"/>
                </a:srgbClr>
              </a:gs>
              <a:gs pos="55000">
                <a:srgbClr val="0E0F12">
                  <a:alpha val="100000"/>
                </a:srgbClr>
              </a:gs>
            </a:gsLst>
            <a:path path="circle">
              <a:fillToRect l="88000" t="100000" r="12000" b="0"/>
            </a:path>
          </a:gradFill>
          <a:ln/>
        </p:spPr>
      </p:sp>
      <p:sp>
        <p:nvSpPr>
          <p:cNvPr id="3" name="Text 1"/>
          <p:cNvSpPr/>
          <p:nvPr/>
        </p:nvSpPr>
        <p:spPr>
          <a:xfrm>
            <a:off x="952500" y="838068"/>
            <a:ext cx="18021301" cy="334433"/>
          </a:xfrm>
          <a:prstGeom prst="rect">
            <a:avLst/>
          </a:prstGeom>
          <a:noFill/>
          <a:ln/>
        </p:spPr>
        <p:txBody>
          <a:bodyPr wrap="square" lIns="25400" tIns="25400" rIns="25400" bIns="25400" rtlCol="0" anchor="t">
            <a:normAutofit/>
          </a:bodyPr>
          <a:lstStyle/>
          <a:p>
            <a:pPr algn="l" indent="0" marL="0">
              <a:buNone/>
            </a:pPr>
            <a:r>
              <a:rPr lang="en-US" sz="1800" spc="360" kern="0" dirty="0">
                <a:solidFill>
                  <a:srgbClr val="A9843A"/>
                </a:solidFill>
                <a:latin typeface="IBM Plex Sans" pitchFamily="34" charset="0"/>
                <a:ea typeface="IBM Plex Sans" pitchFamily="34" charset="-122"/>
                <a:cs typeface="IBM Plex Sans" pitchFamily="34" charset="-120"/>
              </a:rPr>
              <a:t>WHAT COMES NEXT</a:t>
            </a:r>
            <a:endParaRPr lang="en-US" sz="1800" dirty="0"/>
          </a:p>
        </p:txBody>
      </p:sp>
      <p:sp>
        <p:nvSpPr>
          <p:cNvPr id="4" name="Text 2"/>
          <p:cNvSpPr/>
          <p:nvPr/>
        </p:nvSpPr>
        <p:spPr>
          <a:xfrm>
            <a:off x="952500" y="1267685"/>
            <a:ext cx="14716126" cy="1378876"/>
          </a:xfrm>
          <a:prstGeom prst="rect">
            <a:avLst/>
          </a:prstGeom>
          <a:noFill/>
          <a:ln/>
        </p:spPr>
        <p:txBody>
          <a:bodyPr wrap="square" lIns="25400" tIns="25400" rIns="25400" bIns="25400" rtlCol="0" anchor="t">
            <a:normAutofit/>
          </a:bodyPr>
          <a:lstStyle/>
          <a:p>
            <a:pPr algn="l" indent="0" marL="0">
              <a:lnSpc>
                <a:spcPct val="72000"/>
              </a:lnSpc>
              <a:buNone/>
            </a:pPr>
            <a:r>
              <a:rPr lang="en-US" sz="4800" b="1" dirty="0">
                <a:solidFill>
                  <a:srgbClr val="F4F1EA"/>
                </a:solidFill>
                <a:latin typeface="Spectral" pitchFamily="34" charset="0"/>
                <a:ea typeface="Spectral" pitchFamily="34" charset="-122"/>
                <a:cs typeface="Spectral" pitchFamily="34" charset="-120"/>
              </a:rPr>
              <a:t>Turn fragmented game knowledge into a decision you can inspect</a:t>
            </a:r>
            <a:endParaRPr lang="en-US" sz="4800" dirty="0"/>
          </a:p>
        </p:txBody>
      </p:sp>
      <p:sp>
        <p:nvSpPr>
          <p:cNvPr id="5" name="Shape 3"/>
          <p:cNvSpPr/>
          <p:nvPr/>
        </p:nvSpPr>
        <p:spPr>
          <a:xfrm>
            <a:off x="952500" y="3533180"/>
            <a:ext cx="7943784" cy="10583"/>
          </a:xfrm>
          <a:prstGeom prst="rect">
            <a:avLst/>
          </a:prstGeom>
          <a:solidFill>
            <a:srgbClr val="A9843A"/>
          </a:solidFill>
          <a:ln/>
        </p:spPr>
      </p:sp>
      <p:sp>
        <p:nvSpPr>
          <p:cNvPr id="6" name="Text 4"/>
          <p:cNvSpPr/>
          <p:nvPr/>
        </p:nvSpPr>
        <p:spPr>
          <a:xfrm>
            <a:off x="952500" y="3065529"/>
            <a:ext cx="8182098" cy="334301"/>
          </a:xfrm>
          <a:prstGeom prst="rect">
            <a:avLst/>
          </a:prstGeom>
          <a:noFill/>
          <a:ln/>
        </p:spPr>
        <p:txBody>
          <a:bodyPr wrap="square" lIns="25400" tIns="25400" rIns="25400" bIns="25400" rtlCol="0" anchor="t">
            <a:normAutofit/>
          </a:bodyPr>
          <a:lstStyle/>
          <a:p>
            <a:pPr algn="l" indent="0" marL="0">
              <a:buNone/>
            </a:pPr>
            <a:r>
              <a:rPr lang="en-US" sz="1800" spc="288" kern="0" dirty="0">
                <a:solidFill>
                  <a:srgbClr val="E8B44A"/>
                </a:solidFill>
                <a:latin typeface="IBM Plex Sans" pitchFamily="34" charset="0"/>
                <a:ea typeface="IBM Plex Sans" pitchFamily="34" charset="-122"/>
                <a:cs typeface="IBM Plex Sans" pitchFamily="34" charset="-120"/>
              </a:rPr>
              <a:t>CURRENT</a:t>
            </a:r>
            <a:endParaRPr lang="en-US" sz="1800" dirty="0"/>
          </a:p>
        </p:txBody>
      </p:sp>
      <p:sp>
        <p:nvSpPr>
          <p:cNvPr id="7" name="Text 5"/>
          <p:cNvSpPr/>
          <p:nvPr/>
        </p:nvSpPr>
        <p:spPr>
          <a:xfrm>
            <a:off x="952500" y="3753280"/>
            <a:ext cx="8738163" cy="434148"/>
          </a:xfrm>
          <a:prstGeom prst="rect">
            <a:avLst/>
          </a:prstGeom>
          <a:noFill/>
          <a:ln/>
        </p:spPr>
        <p:txBody>
          <a:bodyPr wrap="square" lIns="25400" tIns="25400" rIns="25400" bIns="25400" rtlCol="0" anchor="t">
            <a:normAutofit/>
          </a:bodyPr>
          <a:lstStyle/>
          <a:p>
            <a:pPr algn="l" indent="0" marL="0">
              <a:lnSpc>
                <a:spcPct val="98526"/>
              </a:lnSpc>
              <a:buNone/>
            </a:pPr>
            <a:r>
              <a:rPr lang="en-US" sz="2400" dirty="0">
                <a:solidFill>
                  <a:srgbClr val="F4F1EA"/>
                </a:solidFill>
                <a:latin typeface="IBM Plex Sans" pitchFamily="34" charset="0"/>
                <a:ea typeface="IBM Plex Sans" pitchFamily="34" charset="-122"/>
                <a:cs typeface="IBM Plex Sans" pitchFamily="34" charset="-120"/>
              </a:rPr>
              <a:t>Integrated product on trusted HTTPS</a:t>
            </a:r>
            <a:endParaRPr lang="en-US" sz="2400" dirty="0"/>
          </a:p>
        </p:txBody>
      </p:sp>
      <p:sp>
        <p:nvSpPr>
          <p:cNvPr id="8" name="Text 6"/>
          <p:cNvSpPr/>
          <p:nvPr/>
        </p:nvSpPr>
        <p:spPr>
          <a:xfrm>
            <a:off x="952500" y="4358845"/>
            <a:ext cx="8738163" cy="434148"/>
          </a:xfrm>
          <a:prstGeom prst="rect">
            <a:avLst/>
          </a:prstGeom>
          <a:noFill/>
          <a:ln/>
        </p:spPr>
        <p:txBody>
          <a:bodyPr wrap="square" lIns="25400" tIns="25400" rIns="25400" bIns="25400" rtlCol="0" anchor="t">
            <a:normAutofit/>
          </a:bodyPr>
          <a:lstStyle/>
          <a:p>
            <a:pPr algn="l" indent="0" marL="0">
              <a:lnSpc>
                <a:spcPct val="98526"/>
              </a:lnSpc>
              <a:buNone/>
            </a:pPr>
            <a:r>
              <a:rPr lang="en-US" sz="2400" dirty="0">
                <a:solidFill>
                  <a:srgbClr val="F4F1EA"/>
                </a:solidFill>
                <a:latin typeface="IBM Plex Sans" pitchFamily="34" charset="0"/>
                <a:ea typeface="IBM Plex Sans" pitchFamily="34" charset="-122"/>
                <a:cs typeface="IBM Plex Sans" pitchFamily="34" charset="-120"/>
              </a:rPr>
              <a:t>Deterministic game-data inspection</a:t>
            </a:r>
            <a:endParaRPr lang="en-US" sz="2400" dirty="0"/>
          </a:p>
        </p:txBody>
      </p:sp>
      <p:sp>
        <p:nvSpPr>
          <p:cNvPr id="9" name="Text 7"/>
          <p:cNvSpPr/>
          <p:nvPr/>
        </p:nvSpPr>
        <p:spPr>
          <a:xfrm>
            <a:off x="952500" y="4964410"/>
            <a:ext cx="8738163" cy="434148"/>
          </a:xfrm>
          <a:prstGeom prst="rect">
            <a:avLst/>
          </a:prstGeom>
          <a:noFill/>
          <a:ln/>
        </p:spPr>
        <p:txBody>
          <a:bodyPr wrap="square" lIns="25400" tIns="25400" rIns="25400" bIns="25400" rtlCol="0" anchor="t">
            <a:normAutofit/>
          </a:bodyPr>
          <a:lstStyle/>
          <a:p>
            <a:pPr algn="l" indent="0" marL="0">
              <a:lnSpc>
                <a:spcPct val="98526"/>
              </a:lnSpc>
              <a:buNone/>
            </a:pPr>
            <a:r>
              <a:rPr lang="en-US" sz="2400" dirty="0">
                <a:solidFill>
                  <a:srgbClr val="F4F1EA"/>
                </a:solidFill>
                <a:latin typeface="IBM Plex Sans" pitchFamily="34" charset="0"/>
                <a:ea typeface="IBM Plex Sans" pitchFamily="34" charset="-122"/>
                <a:cs typeface="IBM Plex Sans" pitchFamily="34" charset="-120"/>
              </a:rPr>
              <a:t>Evidence-backed Coach</a:t>
            </a:r>
            <a:endParaRPr lang="en-US" sz="2400" dirty="0"/>
          </a:p>
        </p:txBody>
      </p:sp>
      <p:sp>
        <p:nvSpPr>
          <p:cNvPr id="10" name="Shape 8"/>
          <p:cNvSpPr/>
          <p:nvPr/>
        </p:nvSpPr>
        <p:spPr>
          <a:xfrm>
            <a:off x="9391551" y="3533180"/>
            <a:ext cx="7943949" cy="10583"/>
          </a:xfrm>
          <a:prstGeom prst="rect">
            <a:avLst/>
          </a:prstGeom>
          <a:solidFill>
            <a:srgbClr val="2A2E35"/>
          </a:solidFill>
          <a:ln/>
        </p:spPr>
      </p:sp>
      <p:sp>
        <p:nvSpPr>
          <p:cNvPr id="11" name="Text 9"/>
          <p:cNvSpPr/>
          <p:nvPr/>
        </p:nvSpPr>
        <p:spPr>
          <a:xfrm>
            <a:off x="9391551" y="3065529"/>
            <a:ext cx="8182268" cy="334301"/>
          </a:xfrm>
          <a:prstGeom prst="rect">
            <a:avLst/>
          </a:prstGeom>
          <a:noFill/>
          <a:ln/>
        </p:spPr>
        <p:txBody>
          <a:bodyPr wrap="square" lIns="25400" tIns="25400" rIns="25400" bIns="25400" rtlCol="0" anchor="t">
            <a:normAutofit/>
          </a:bodyPr>
          <a:lstStyle/>
          <a:p>
            <a:pPr algn="l" indent="0" marL="0">
              <a:buNone/>
            </a:pPr>
            <a:r>
              <a:rPr lang="en-US" sz="1800" spc="288" kern="0" dirty="0">
                <a:solidFill>
                  <a:srgbClr val="9B988F"/>
                </a:solidFill>
                <a:latin typeface="IBM Plex Sans" pitchFamily="34" charset="0"/>
                <a:ea typeface="IBM Plex Sans" pitchFamily="34" charset="-122"/>
                <a:cs typeface="IBM Plex Sans" pitchFamily="34" charset="-120"/>
              </a:rPr>
              <a:t>NEXT</a:t>
            </a:r>
            <a:endParaRPr lang="en-US" sz="1800" dirty="0"/>
          </a:p>
        </p:txBody>
      </p:sp>
      <p:sp>
        <p:nvSpPr>
          <p:cNvPr id="12" name="Text 10"/>
          <p:cNvSpPr/>
          <p:nvPr/>
        </p:nvSpPr>
        <p:spPr>
          <a:xfrm>
            <a:off x="9391551" y="3753280"/>
            <a:ext cx="8738344" cy="385200"/>
          </a:xfrm>
          <a:prstGeom prst="rect">
            <a:avLst/>
          </a:prstGeom>
          <a:noFill/>
          <a:ln/>
        </p:spPr>
        <p:txBody>
          <a:bodyPr wrap="square" lIns="25400" tIns="25400" rIns="25400" bIns="25400" rtlCol="0" anchor="t">
            <a:normAutofit/>
          </a:bodyPr>
          <a:lstStyle/>
          <a:p>
            <a:pPr algn="l" indent="0" marL="0">
              <a:lnSpc>
                <a:spcPct val="102516"/>
              </a:lnSpc>
              <a:buNone/>
            </a:pPr>
            <a:r>
              <a:rPr lang="en-US" sz="2025" dirty="0">
                <a:solidFill>
                  <a:srgbClr val="9B988F"/>
                </a:solidFill>
                <a:latin typeface="IBM Plex Sans" pitchFamily="34" charset="0"/>
                <a:ea typeface="IBM Plex Sans" pitchFamily="34" charset="-122"/>
                <a:cs typeface="IBM Plex Sans" pitchFamily="34" charset="-120"/>
              </a:rPr>
              <a:t>Deterministic craft planner</a:t>
            </a:r>
            <a:endParaRPr lang="en-US" sz="2025" dirty="0"/>
          </a:p>
        </p:txBody>
      </p:sp>
      <p:sp>
        <p:nvSpPr>
          <p:cNvPr id="13" name="Text 11"/>
          <p:cNvSpPr/>
          <p:nvPr/>
        </p:nvSpPr>
        <p:spPr>
          <a:xfrm>
            <a:off x="9391551" y="4309897"/>
            <a:ext cx="8738344" cy="385200"/>
          </a:xfrm>
          <a:prstGeom prst="rect">
            <a:avLst/>
          </a:prstGeom>
          <a:noFill/>
          <a:ln/>
        </p:spPr>
        <p:txBody>
          <a:bodyPr wrap="square" lIns="25400" tIns="25400" rIns="25400" bIns="25400" rtlCol="0" anchor="t">
            <a:normAutofit/>
          </a:bodyPr>
          <a:lstStyle/>
          <a:p>
            <a:pPr algn="l" indent="0" marL="0">
              <a:lnSpc>
                <a:spcPct val="102516"/>
              </a:lnSpc>
              <a:buNone/>
            </a:pPr>
            <a:r>
              <a:rPr lang="en-US" sz="2025" dirty="0">
                <a:solidFill>
                  <a:srgbClr val="9B988F"/>
                </a:solidFill>
                <a:latin typeface="IBM Plex Sans" pitchFamily="34" charset="0"/>
                <a:ea typeface="IBM Plex Sans" pitchFamily="34" charset="-122"/>
                <a:cs typeface="IBM Plex Sans" pitchFamily="34" charset="-120"/>
              </a:rPr>
              <a:t>Production-specific eval suite</a:t>
            </a:r>
            <a:endParaRPr lang="en-US" sz="2025" dirty="0"/>
          </a:p>
        </p:txBody>
      </p:sp>
      <p:sp>
        <p:nvSpPr>
          <p:cNvPr id="14" name="Text 12"/>
          <p:cNvSpPr/>
          <p:nvPr/>
        </p:nvSpPr>
        <p:spPr>
          <a:xfrm>
            <a:off x="9391551" y="4866515"/>
            <a:ext cx="8738344" cy="385200"/>
          </a:xfrm>
          <a:prstGeom prst="rect">
            <a:avLst/>
          </a:prstGeom>
          <a:noFill/>
          <a:ln/>
        </p:spPr>
        <p:txBody>
          <a:bodyPr wrap="square" lIns="25400" tIns="25400" rIns="25400" bIns="25400" rtlCol="0" anchor="t">
            <a:normAutofit/>
          </a:bodyPr>
          <a:lstStyle/>
          <a:p>
            <a:pPr algn="l" indent="0" marL="0">
              <a:lnSpc>
                <a:spcPct val="102516"/>
              </a:lnSpc>
              <a:buNone/>
            </a:pPr>
            <a:r>
              <a:rPr lang="en-US" sz="2025" dirty="0">
                <a:solidFill>
                  <a:srgbClr val="9B988F"/>
                </a:solidFill>
                <a:latin typeface="IBM Plex Sans" pitchFamily="34" charset="0"/>
                <a:ea typeface="IBM Plex Sans" pitchFamily="34" charset="-122"/>
                <a:cs typeface="IBM Plex Sans" pitchFamily="34" charset="-120"/>
              </a:rPr>
              <a:t>More item-level crafting cases</a:t>
            </a:r>
            <a:endParaRPr lang="en-US" sz="2025" dirty="0"/>
          </a:p>
        </p:txBody>
      </p:sp>
      <p:sp>
        <p:nvSpPr>
          <p:cNvPr id="15" name="Text 13"/>
          <p:cNvSpPr/>
          <p:nvPr/>
        </p:nvSpPr>
        <p:spPr>
          <a:xfrm>
            <a:off x="9391551" y="5423132"/>
            <a:ext cx="8738344" cy="385200"/>
          </a:xfrm>
          <a:prstGeom prst="rect">
            <a:avLst/>
          </a:prstGeom>
          <a:noFill/>
          <a:ln/>
        </p:spPr>
        <p:txBody>
          <a:bodyPr wrap="square" lIns="25400" tIns="25400" rIns="25400" bIns="25400" rtlCol="0" anchor="t">
            <a:normAutofit/>
          </a:bodyPr>
          <a:lstStyle/>
          <a:p>
            <a:pPr algn="l" indent="0" marL="0">
              <a:lnSpc>
                <a:spcPct val="102516"/>
              </a:lnSpc>
              <a:buNone/>
            </a:pPr>
            <a:r>
              <a:rPr lang="en-US" sz="2025" dirty="0">
                <a:solidFill>
                  <a:srgbClr val="9B988F"/>
                </a:solidFill>
                <a:latin typeface="IBM Plex Sans" pitchFamily="34" charset="0"/>
                <a:ea typeface="IBM Plex Sans" pitchFamily="34" charset="-122"/>
                <a:cs typeface="IBM Plex Sans" pitchFamily="34" charset="-120"/>
              </a:rPr>
              <a:t>User feedback and iteration</a:t>
            </a:r>
            <a:endParaRPr lang="en-US" sz="2025" dirty="0"/>
          </a:p>
        </p:txBody>
      </p:sp>
      <p:sp>
        <p:nvSpPr>
          <p:cNvPr id="16" name="Text 14"/>
          <p:cNvSpPr/>
          <p:nvPr/>
        </p:nvSpPr>
        <p:spPr>
          <a:xfrm>
            <a:off x="9391551" y="5979749"/>
            <a:ext cx="8738344" cy="385200"/>
          </a:xfrm>
          <a:prstGeom prst="rect">
            <a:avLst/>
          </a:prstGeom>
          <a:noFill/>
          <a:ln/>
        </p:spPr>
        <p:txBody>
          <a:bodyPr wrap="square" lIns="25400" tIns="25400" rIns="25400" bIns="25400" rtlCol="0" anchor="t">
            <a:normAutofit/>
          </a:bodyPr>
          <a:lstStyle/>
          <a:p>
            <a:pPr algn="l" indent="0" marL="0">
              <a:lnSpc>
                <a:spcPct val="102516"/>
              </a:lnSpc>
              <a:buNone/>
            </a:pPr>
            <a:r>
              <a:rPr lang="en-US" sz="2025" dirty="0">
                <a:solidFill>
                  <a:srgbClr val="9B988F"/>
                </a:solidFill>
                <a:latin typeface="IBM Plex Sans" pitchFamily="34" charset="0"/>
                <a:ea typeface="IBM Plex Sans" pitchFamily="34" charset="-122"/>
                <a:cs typeface="IBM Plex Sans" pitchFamily="34" charset="-120"/>
              </a:rPr>
              <a:t>Patch-aware data maintenance</a:t>
            </a:r>
            <a:endParaRPr lang="en-US" sz="2025" dirty="0"/>
          </a:p>
        </p:txBody>
      </p:sp>
      <p:sp>
        <p:nvSpPr>
          <p:cNvPr id="17" name="Shape 15"/>
          <p:cNvSpPr/>
          <p:nvPr/>
        </p:nvSpPr>
        <p:spPr>
          <a:xfrm>
            <a:off x="952500" y="7412468"/>
            <a:ext cx="16383001" cy="10583"/>
          </a:xfrm>
          <a:prstGeom prst="rect">
            <a:avLst/>
          </a:prstGeom>
          <a:solidFill>
            <a:srgbClr val="2A2E35"/>
          </a:solidFill>
          <a:ln/>
        </p:spPr>
      </p:sp>
      <p:pic>
        <p:nvPicPr>
          <p:cNvPr id="18" name="Image 0" descr="preencoded.png">    </p:cNvPr>
          <p:cNvPicPr>
            <a:picLocks noChangeAspect="1"/>
          </p:cNvPicPr>
          <p:nvPr/>
        </p:nvPicPr>
        <p:blipFill>
          <a:blip r:embed="rId1"/>
          <a:stretch>
            <a:fillRect/>
          </a:stretch>
        </p:blipFill>
        <p:spPr>
          <a:xfrm>
            <a:off x="952500" y="8991699"/>
            <a:ext cx="403820" cy="533301"/>
          </a:xfrm>
          <a:prstGeom prst="rect">
            <a:avLst/>
          </a:prstGeom>
        </p:spPr>
      </p:pic>
      <p:sp>
        <p:nvSpPr>
          <p:cNvPr id="19" name="Text 16">
            <a:hlinkClick r:id="rId2" tooltip=""/>
          </p:cNvPr>
          <p:cNvSpPr/>
          <p:nvPr/>
        </p:nvSpPr>
        <p:spPr>
          <a:xfrm>
            <a:off x="1565837" y="9057184"/>
            <a:ext cx="2011826" cy="440267"/>
          </a:xfrm>
          <a:prstGeom prst="rect">
            <a:avLst/>
          </a:prstGeom>
          <a:noFill/>
          <a:ln/>
        </p:spPr>
        <p:txBody>
          <a:bodyPr wrap="none" lIns="25400" tIns="25400" rIns="25400" bIns="25400" rtlCol="0" anchor="t">
            <a:normAutofit/>
          </a:bodyPr>
          <a:lstStyle/>
          <a:p>
            <a:pPr algn="l" indent="0" marL="0">
              <a:buNone/>
            </a:pPr>
            <a:r>
              <a:rPr lang="en-US" sz="2400" u="sng" dirty="0">
                <a:solidFill>
                  <a:srgbClr val="E8B44A"/>
                </a:solidFill>
                <a:latin typeface="IBM Plex Mono" pitchFamily="34" charset="0"/>
                <a:ea typeface="IBM Plex Mono" pitchFamily="34" charset="-122"/>
                <a:cs typeface="IBM Plex Mono" pitchFamily="34" charset="-120"/>
                <a:hlinkClick r:id="rId2" invalidUrl="" action="" tgtFrame="" tooltip="" history="1" highlightClick="0" endSnd="0">
                  <a:extLst>
                    <a:ext uri="{A12FA001-AC4F-418D-AE19-62706E023703}">
                      <ahyp:hlinkClr xmlns:ahyp="http://schemas.microsoft.com/office/drawing/2018/hyperlinkcolor" val="tx"/>
                    </a:ext>
                  </a:extLst>
                </a:hlinkClick>
              </a:rPr>
              <a:t>poe2.coach</a:t>
            </a:r>
            <a:endParaRPr lang="en-US" sz="2400" dirty="0"/>
          </a:p>
        </p:txBody>
      </p:sp>
      <p:pic>
        <p:nvPicPr>
          <p:cNvPr id="20" name="Image 1" descr="preencoded.png">    </p:cNvPr>
          <p:cNvPicPr>
            <a:picLocks noChangeAspect="1"/>
          </p:cNvPicPr>
          <p:nvPr/>
        </p:nvPicPr>
        <p:blipFill>
          <a:blip r:embed="rId3"/>
          <a:stretch>
            <a:fillRect/>
          </a:stretch>
        </p:blipFill>
        <p:spPr>
          <a:xfrm>
            <a:off x="9278111" y="7692926"/>
            <a:ext cx="1809750" cy="1809750"/>
          </a:xfrm>
          <a:prstGeom prst="rect">
            <a:avLst/>
          </a:prstGeom>
        </p:spPr>
      </p:pic>
      <p:sp>
        <p:nvSpPr>
          <p:cNvPr id="21" name="Text 17"/>
          <p:cNvSpPr/>
          <p:nvPr/>
        </p:nvSpPr>
        <p:spPr>
          <a:xfrm>
            <a:off x="11240162" y="8259134"/>
            <a:ext cx="1508142" cy="323685"/>
          </a:xfrm>
          <a:prstGeom prst="rect">
            <a:avLst/>
          </a:prstGeom>
          <a:noFill/>
          <a:ln/>
        </p:spPr>
        <p:txBody>
          <a:bodyPr wrap="square" lIns="25400" tIns="25400" rIns="25400" bIns="25400" rtlCol="0" anchor="t">
            <a:normAutofit/>
          </a:bodyPr>
          <a:lstStyle/>
          <a:p>
            <a:pPr algn="l" indent="0" marL="0">
              <a:lnSpc>
                <a:spcPct val="96429"/>
              </a:lnSpc>
              <a:buNone/>
            </a:pPr>
            <a:r>
              <a:rPr lang="en-US" sz="1800" dirty="0">
                <a:solidFill>
                  <a:srgbClr val="9B988F"/>
                </a:solidFill>
                <a:latin typeface="IBM Plex Sans" pitchFamily="34" charset="0"/>
                <a:ea typeface="IBM Plex Sans" pitchFamily="34" charset="-122"/>
                <a:cs typeface="IBM Plex Sans" pitchFamily="34" charset="-120"/>
              </a:rPr>
              <a:t>Live product</a:t>
            </a:r>
            <a:endParaRPr lang="en-US" sz="1800" dirty="0"/>
          </a:p>
        </p:txBody>
      </p:sp>
      <p:sp>
        <p:nvSpPr>
          <p:cNvPr id="22" name="Text 18">
            <a:hlinkClick r:id="rId4" tooltip=""/>
          </p:cNvPr>
          <p:cNvSpPr/>
          <p:nvPr/>
        </p:nvSpPr>
        <p:spPr>
          <a:xfrm>
            <a:off x="11240162" y="8639969"/>
            <a:ext cx="1508142" cy="334433"/>
          </a:xfrm>
          <a:prstGeom prst="rect">
            <a:avLst/>
          </a:prstGeom>
          <a:noFill/>
          <a:ln/>
        </p:spPr>
        <p:txBody>
          <a:bodyPr wrap="square" lIns="25400" tIns="25400" rIns="25400" bIns="25400" rtlCol="0" anchor="t">
            <a:normAutofit/>
          </a:bodyPr>
          <a:lstStyle/>
          <a:p>
            <a:pPr algn="l" indent="0" marL="0">
              <a:buNone/>
            </a:pPr>
            <a:r>
              <a:rPr lang="en-US" sz="1800" u="sng" dirty="0">
                <a:solidFill>
                  <a:srgbClr val="E8B44A"/>
                </a:solidFill>
                <a:latin typeface="IBM Plex Mono" pitchFamily="34" charset="0"/>
                <a:ea typeface="IBM Plex Mono" pitchFamily="34" charset="-122"/>
                <a:cs typeface="IBM Plex Mono" pitchFamily="34" charset="-120"/>
                <a:hlinkClick r:id="rId4" invalidUrl="" action="" tgtFrame="" tooltip="" history="1" highlightClick="0" endSnd="0">
                  <a:extLst>
                    <a:ext uri="{A12FA001-AC4F-418D-AE19-62706E023703}">
                      <ahyp:hlinkClr xmlns:ahyp="http://schemas.microsoft.com/office/drawing/2018/hyperlinkcolor" val="tx"/>
                    </a:ext>
                  </a:extLst>
                </a:hlinkClick>
              </a:rPr>
              <a:t>poe2.coach</a:t>
            </a:r>
            <a:endParaRPr lang="en-US" sz="1800" dirty="0"/>
          </a:p>
        </p:txBody>
      </p:sp>
      <p:pic>
        <p:nvPicPr>
          <p:cNvPr id="23" name="Image 2" descr="preencoded.png">    </p:cNvPr>
          <p:cNvPicPr>
            <a:picLocks noChangeAspect="1"/>
          </p:cNvPicPr>
          <p:nvPr/>
        </p:nvPicPr>
        <p:blipFill>
          <a:blip r:embed="rId5"/>
          <a:stretch>
            <a:fillRect/>
          </a:stretch>
        </p:blipFill>
        <p:spPr>
          <a:xfrm>
            <a:off x="12992200" y="7692926"/>
            <a:ext cx="1809750" cy="1809750"/>
          </a:xfrm>
          <a:prstGeom prst="rect">
            <a:avLst/>
          </a:prstGeom>
        </p:spPr>
      </p:pic>
      <p:sp>
        <p:nvSpPr>
          <p:cNvPr id="24" name="Text 19"/>
          <p:cNvSpPr/>
          <p:nvPr/>
        </p:nvSpPr>
        <p:spPr>
          <a:xfrm>
            <a:off x="14954251" y="7670602"/>
            <a:ext cx="2457450" cy="609269"/>
          </a:xfrm>
          <a:prstGeom prst="rect">
            <a:avLst/>
          </a:prstGeom>
          <a:noFill/>
          <a:ln/>
        </p:spPr>
        <p:txBody>
          <a:bodyPr wrap="square" lIns="25400" tIns="25400" rIns="25400" bIns="25400" rtlCol="0" anchor="t">
            <a:normAutofit/>
          </a:bodyPr>
          <a:lstStyle/>
          <a:p>
            <a:pPr algn="l" indent="0" marL="0">
              <a:lnSpc>
                <a:spcPct val="96429"/>
              </a:lnSpc>
              <a:buNone/>
            </a:pPr>
            <a:r>
              <a:rPr lang="en-US" sz="1800" dirty="0">
                <a:solidFill>
                  <a:srgbClr val="9B988F"/>
                </a:solidFill>
                <a:latin typeface="IBM Plex Sans" pitchFamily="34" charset="0"/>
                <a:ea typeface="IBM Plex Sans" pitchFamily="34" charset="-122"/>
                <a:cs typeface="IBM Plex Sans" pitchFamily="34" charset="-120"/>
              </a:rPr>
              <a:t>Certification &amp; evaluation artifact</a:t>
            </a:r>
            <a:endParaRPr lang="en-US" sz="1800" dirty="0"/>
          </a:p>
        </p:txBody>
      </p:sp>
      <p:sp>
        <p:nvSpPr>
          <p:cNvPr id="25" name="Text 20">
            <a:hlinkClick r:id="rId6" tooltip=""/>
          </p:cNvPr>
          <p:cNvSpPr/>
          <p:nvPr/>
        </p:nvSpPr>
        <p:spPr>
          <a:xfrm>
            <a:off x="14954251" y="8337021"/>
            <a:ext cx="2457450" cy="1226079"/>
          </a:xfrm>
          <a:prstGeom prst="rect">
            <a:avLst/>
          </a:prstGeom>
          <a:noFill/>
          <a:ln/>
        </p:spPr>
        <p:txBody>
          <a:bodyPr wrap="square" lIns="25400" tIns="25400" rIns="25400" bIns="25400" rtlCol="0" anchor="t">
            <a:normAutofit/>
          </a:bodyPr>
          <a:lstStyle/>
          <a:p>
            <a:pPr algn="l" indent="0" marL="0">
              <a:lnSpc>
                <a:spcPct val="100286"/>
              </a:lnSpc>
              <a:buNone/>
            </a:pPr>
            <a:r>
              <a:rPr lang="en-US" sz="1800" u="sng" dirty="0">
                <a:solidFill>
                  <a:srgbClr val="E8B44A"/>
                </a:solidFill>
                <a:latin typeface="IBM Plex Mono" pitchFamily="34" charset="0"/>
                <a:ea typeface="IBM Plex Mono" pitchFamily="34" charset="-122"/>
                <a:cs typeface="IBM Plex Mono" pitchFamily="34" charset="-120"/>
                <a:hlinkClick r:id="rId6" invalidUrl="" action="" tgtFrame="" tooltip="" history="1" highlightClick="0" endSnd="0">
                  <a:extLst>
                    <a:ext uri="{A12FA001-AC4F-418D-AE19-62706E023703}">
                      <ahyp:hlinkClr xmlns:ahyp="http://schemas.microsoft.com/office/drawing/2018/hyperlinkcolor" val="tx"/>
                    </a:ext>
                  </a:extLst>
                </a:hlinkClick>
              </a:rPr>
              <a:t>github.com/RysanekDavid/poe2-flip-coach-certification</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2026-08-07T10:02:37Z</dcterms:created>
  <dcterms:modified xsi:type="dcterms:W3CDTF">2026-08-07T10:02:37Z</dcterms:modified>
</cp:coreProperties>
</file>